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8" r:id="rId3"/>
    <p:sldId id="259" r:id="rId4"/>
    <p:sldId id="257" r:id="rId5"/>
    <p:sldId id="276" r:id="rId6"/>
    <p:sldId id="261" r:id="rId7"/>
    <p:sldId id="274" r:id="rId8"/>
    <p:sldId id="280" r:id="rId9"/>
    <p:sldId id="277" r:id="rId10"/>
    <p:sldId id="281" r:id="rId11"/>
    <p:sldId id="282" r:id="rId12"/>
    <p:sldId id="283" r:id="rId13"/>
    <p:sldId id="284" r:id="rId14"/>
    <p:sldId id="285" r:id="rId15"/>
    <p:sldId id="286" r:id="rId16"/>
    <p:sldId id="287" r:id="rId17"/>
    <p:sldId id="288" r:id="rId18"/>
    <p:sldId id="275" r:id="rId19"/>
    <p:sldId id="273" r:id="rId20"/>
    <p:sldId id="260" r:id="rId21"/>
    <p:sldId id="289" r:id="rId22"/>
    <p:sldId id="269" r:id="rId23"/>
    <p:sldId id="268" r:id="rId24"/>
  </p:sldIdLst>
  <p:sldSz cx="18288000" cy="10287000"/>
  <p:notesSz cx="6858000" cy="9144000"/>
  <p:embeddedFontLst>
    <p:embeddedFont>
      <p:font typeface="Calibri" pitchFamily="34" charset="0"/>
      <p:regular r:id="rId26"/>
      <p:bold r:id="rId27"/>
      <p:italic r:id="rId28"/>
      <p:boldItalic r:id="rId29"/>
    </p:embeddedFont>
    <p:embeddedFont>
      <p:font typeface="Inter Bold" charset="0"/>
      <p:regular r:id="rId30"/>
    </p:embeddedFont>
    <p:embeddedFont>
      <p:font typeface="Inter" charset="0"/>
      <p:regular r:id="rId31"/>
      <p:bold r:id="rId32"/>
      <p:italic r:id="rId33"/>
      <p:boldItalic r:id="rId34"/>
    </p:embeddedFont>
    <p:embeddedFont>
      <p:font typeface="Inter Light"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22" autoAdjust="0"/>
  </p:normalViewPr>
  <p:slideViewPr>
    <p:cSldViewPr>
      <p:cViewPr>
        <p:scale>
          <a:sx n="33" d="100"/>
          <a:sy n="33" d="100"/>
        </p:scale>
        <p:origin x="-1766" y="-7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060F6-74FB-4085-85F3-8C50D7C63726}" type="datetimeFigureOut">
              <a:rPr lang="en-US" smtClean="0"/>
              <a:pPr/>
              <a:t>8/23/2026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45BBE0-933B-48F7-B72D-0EA0AC8ED38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11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12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13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14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15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16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45BBE0-933B-48F7-B72D-0EA0AC8ED38D}"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591646" y="358826"/>
            <a:ext cx="7343622" cy="9575441"/>
            <a:chOff x="0" y="0"/>
            <a:chExt cx="1934123" cy="2521927"/>
          </a:xfrm>
        </p:grpSpPr>
        <p:sp>
          <p:nvSpPr>
            <p:cNvPr id="3" name="Freeform 3"/>
            <p:cNvSpPr/>
            <p:nvPr/>
          </p:nvSpPr>
          <p:spPr>
            <a:xfrm>
              <a:off x="0" y="0"/>
              <a:ext cx="1934123" cy="2521927"/>
            </a:xfrm>
            <a:custGeom>
              <a:avLst/>
              <a:gdLst/>
              <a:ahLst/>
              <a:cxnLst/>
              <a:rect l="l" t="t" r="r" b="b"/>
              <a:pathLst>
                <a:path w="1934123" h="2521927">
                  <a:moveTo>
                    <a:pt x="73797" y="0"/>
                  </a:moveTo>
                  <a:lnTo>
                    <a:pt x="1860326" y="0"/>
                  </a:lnTo>
                  <a:cubicBezTo>
                    <a:pt x="1879898" y="0"/>
                    <a:pt x="1898669" y="7775"/>
                    <a:pt x="1912508" y="21615"/>
                  </a:cubicBezTo>
                  <a:cubicBezTo>
                    <a:pt x="1926348" y="35454"/>
                    <a:pt x="1934123" y="54225"/>
                    <a:pt x="1934123" y="73797"/>
                  </a:cubicBezTo>
                  <a:lnTo>
                    <a:pt x="1934123" y="2448130"/>
                  </a:lnTo>
                  <a:cubicBezTo>
                    <a:pt x="1934123" y="2467702"/>
                    <a:pt x="1926348" y="2486473"/>
                    <a:pt x="1912508" y="2500312"/>
                  </a:cubicBezTo>
                  <a:cubicBezTo>
                    <a:pt x="1898669" y="2514152"/>
                    <a:pt x="1879898" y="2521927"/>
                    <a:pt x="1860326" y="2521927"/>
                  </a:cubicBezTo>
                  <a:lnTo>
                    <a:pt x="73797" y="2521927"/>
                  </a:lnTo>
                  <a:cubicBezTo>
                    <a:pt x="54225" y="2521927"/>
                    <a:pt x="35454" y="2514152"/>
                    <a:pt x="21615" y="2500312"/>
                  </a:cubicBezTo>
                  <a:cubicBezTo>
                    <a:pt x="7775" y="2486473"/>
                    <a:pt x="0" y="2467702"/>
                    <a:pt x="0" y="2448130"/>
                  </a:cubicBezTo>
                  <a:lnTo>
                    <a:pt x="0" y="73797"/>
                  </a:lnTo>
                  <a:cubicBezTo>
                    <a:pt x="0" y="54225"/>
                    <a:pt x="7775" y="35454"/>
                    <a:pt x="21615" y="21615"/>
                  </a:cubicBezTo>
                  <a:cubicBezTo>
                    <a:pt x="35454" y="7775"/>
                    <a:pt x="54225" y="0"/>
                    <a:pt x="73797" y="0"/>
                  </a:cubicBezTo>
                  <a:close/>
                </a:path>
              </a:pathLst>
            </a:custGeom>
            <a:solidFill>
              <a:schemeClr val="accent1">
                <a:lumMod val="20000"/>
                <a:lumOff val="80000"/>
              </a:schemeClr>
            </a:solidFill>
            <a:ln cap="rnd">
              <a:noFill/>
              <a:prstDash val="solid"/>
              <a:round/>
            </a:ln>
          </p:spPr>
        </p:sp>
        <p:sp>
          <p:nvSpPr>
            <p:cNvPr id="4" name="TextBox 4"/>
            <p:cNvSpPr txBox="1"/>
            <p:nvPr/>
          </p:nvSpPr>
          <p:spPr>
            <a:xfrm>
              <a:off x="0" y="-28575"/>
              <a:ext cx="1934123" cy="2550502"/>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375503" y="358826"/>
            <a:ext cx="9863410" cy="9575441"/>
            <a:chOff x="0" y="0"/>
            <a:chExt cx="2597771" cy="2521927"/>
          </a:xfrm>
        </p:grpSpPr>
        <p:sp>
          <p:nvSpPr>
            <p:cNvPr id="6" name="Freeform 6"/>
            <p:cNvSpPr/>
            <p:nvPr/>
          </p:nvSpPr>
          <p:spPr>
            <a:xfrm>
              <a:off x="0" y="0"/>
              <a:ext cx="2597771" cy="2521927"/>
            </a:xfrm>
            <a:custGeom>
              <a:avLst/>
              <a:gdLst/>
              <a:ahLst/>
              <a:cxnLst/>
              <a:rect l="l" t="t" r="r" b="b"/>
              <a:pathLst>
                <a:path w="2597771" h="2521927">
                  <a:moveTo>
                    <a:pt x="54944" y="0"/>
                  </a:moveTo>
                  <a:lnTo>
                    <a:pt x="2542827" y="0"/>
                  </a:lnTo>
                  <a:cubicBezTo>
                    <a:pt x="2573171" y="0"/>
                    <a:pt x="2597771" y="24599"/>
                    <a:pt x="2597771" y="54944"/>
                  </a:cubicBezTo>
                  <a:lnTo>
                    <a:pt x="2597771" y="2466983"/>
                  </a:lnTo>
                  <a:cubicBezTo>
                    <a:pt x="2597771" y="2481555"/>
                    <a:pt x="2591982" y="2495530"/>
                    <a:pt x="2581678" y="2505834"/>
                  </a:cubicBezTo>
                  <a:cubicBezTo>
                    <a:pt x="2571374" y="2516138"/>
                    <a:pt x="2557399" y="2521927"/>
                    <a:pt x="2542827" y="2521927"/>
                  </a:cubicBezTo>
                  <a:lnTo>
                    <a:pt x="54944" y="2521927"/>
                  </a:lnTo>
                  <a:cubicBezTo>
                    <a:pt x="40372" y="2521927"/>
                    <a:pt x="26397" y="2516138"/>
                    <a:pt x="16093" y="2505834"/>
                  </a:cubicBezTo>
                  <a:cubicBezTo>
                    <a:pt x="5789" y="2495530"/>
                    <a:pt x="0" y="2481555"/>
                    <a:pt x="0" y="2466983"/>
                  </a:cubicBezTo>
                  <a:lnTo>
                    <a:pt x="0" y="54944"/>
                  </a:lnTo>
                  <a:cubicBezTo>
                    <a:pt x="0" y="40372"/>
                    <a:pt x="5789" y="26397"/>
                    <a:pt x="16093" y="16093"/>
                  </a:cubicBezTo>
                  <a:cubicBezTo>
                    <a:pt x="26397" y="5789"/>
                    <a:pt x="40372" y="0"/>
                    <a:pt x="54944" y="0"/>
                  </a:cubicBezTo>
                  <a:close/>
                </a:path>
              </a:pathLst>
            </a:custGeom>
            <a:solidFill>
              <a:srgbClr val="EDEDED"/>
            </a:solidFill>
            <a:ln cap="rnd">
              <a:noFill/>
              <a:prstDash val="solid"/>
              <a:round/>
            </a:ln>
          </p:spPr>
        </p:sp>
        <p:sp>
          <p:nvSpPr>
            <p:cNvPr id="7" name="TextBox 7"/>
            <p:cNvSpPr txBox="1"/>
            <p:nvPr/>
          </p:nvSpPr>
          <p:spPr>
            <a:xfrm>
              <a:off x="0" y="-28575"/>
              <a:ext cx="2597771" cy="2550502"/>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1285579" y="8683322"/>
            <a:ext cx="8043259" cy="460960"/>
          </a:xfrm>
          <a:prstGeom prst="rect">
            <a:avLst/>
          </a:prstGeom>
        </p:spPr>
        <p:txBody>
          <a:bodyPr lIns="0" tIns="0" rIns="0" bIns="0" rtlCol="0" anchor="t">
            <a:spAutoFit/>
          </a:bodyPr>
          <a:lstStyle/>
          <a:p>
            <a:pPr marL="0" lvl="0" indent="0" algn="l">
              <a:lnSpc>
                <a:spcPts val="3919"/>
              </a:lnSpc>
              <a:spcBef>
                <a:spcPct val="0"/>
              </a:spcBef>
            </a:pPr>
            <a:r>
              <a:rPr lang="en-US" sz="2799" b="1" dirty="0" smtClean="0">
                <a:solidFill>
                  <a:srgbClr val="000000"/>
                </a:solidFill>
                <a:latin typeface="Inter Bold"/>
                <a:ea typeface="Inter Bold"/>
                <a:cs typeface="Inter Bold"/>
                <a:sym typeface="Inter Bold"/>
              </a:rPr>
              <a:t>Team 4</a:t>
            </a:r>
            <a:endParaRPr lang="en-US" sz="2799" b="1" dirty="0">
              <a:solidFill>
                <a:srgbClr val="000000"/>
              </a:solidFill>
              <a:latin typeface="Inter Bold"/>
              <a:ea typeface="Inter Bold"/>
              <a:cs typeface="Inter Bold"/>
              <a:sym typeface="Inter Bold"/>
            </a:endParaRPr>
          </a:p>
        </p:txBody>
      </p:sp>
      <p:sp>
        <p:nvSpPr>
          <p:cNvPr id="11" name="AutoShape 11"/>
          <p:cNvSpPr/>
          <p:nvPr/>
        </p:nvSpPr>
        <p:spPr>
          <a:xfrm>
            <a:off x="1028700" y="8242092"/>
            <a:ext cx="8300138" cy="0"/>
          </a:xfrm>
          <a:prstGeom prst="line">
            <a:avLst/>
          </a:prstGeom>
          <a:ln w="19050" cap="flat">
            <a:solidFill>
              <a:srgbClr val="000000"/>
            </a:solidFill>
            <a:prstDash val="solid"/>
            <a:headEnd type="none" w="sm" len="sm"/>
            <a:tailEnd type="none" w="sm" len="sm"/>
          </a:ln>
        </p:spPr>
      </p:sp>
      <p:sp>
        <p:nvSpPr>
          <p:cNvPr id="17" name="TextBox 17"/>
          <p:cNvSpPr txBox="1"/>
          <p:nvPr/>
        </p:nvSpPr>
        <p:spPr>
          <a:xfrm>
            <a:off x="1524000" y="1333500"/>
            <a:ext cx="5144612" cy="461665"/>
          </a:xfrm>
          <a:prstGeom prst="rect">
            <a:avLst/>
          </a:prstGeom>
        </p:spPr>
        <p:txBody>
          <a:bodyPr wrap="square" lIns="0" tIns="0" rIns="0" bIns="0" rtlCol="0" anchor="t">
            <a:spAutoFit/>
          </a:bodyPr>
          <a:lstStyle/>
          <a:p>
            <a:pPr>
              <a:lnSpc>
                <a:spcPts val="3639"/>
              </a:lnSpc>
              <a:spcBef>
                <a:spcPct val="0"/>
              </a:spcBef>
            </a:pPr>
            <a:r>
              <a:rPr lang="en-US" sz="2799" b="1" dirty="0" smtClean="0">
                <a:solidFill>
                  <a:srgbClr val="000000"/>
                </a:solidFill>
                <a:latin typeface="Inter"/>
                <a:ea typeface="Inter"/>
                <a:cs typeface="Inter"/>
                <a:sym typeface="Inter"/>
              </a:rPr>
              <a:t>Enterprise</a:t>
            </a:r>
            <a:r>
              <a:rPr lang="en-US" sz="2799" dirty="0" smtClean="0">
                <a:solidFill>
                  <a:srgbClr val="000000"/>
                </a:solidFill>
                <a:latin typeface="Inter"/>
                <a:ea typeface="Inter"/>
                <a:cs typeface="Inter"/>
                <a:sym typeface="Inter"/>
              </a:rPr>
              <a:t> </a:t>
            </a:r>
            <a:r>
              <a:rPr lang="en-US" sz="2799" dirty="0" err="1" smtClean="0">
                <a:solidFill>
                  <a:srgbClr val="000000"/>
                </a:solidFill>
                <a:latin typeface="Inter"/>
                <a:ea typeface="Inter"/>
                <a:cs typeface="Inter"/>
                <a:sym typeface="Inter"/>
              </a:rPr>
              <a:t>SecOps</a:t>
            </a:r>
            <a:r>
              <a:rPr lang="en-US" sz="2799" dirty="0" smtClean="0">
                <a:solidFill>
                  <a:srgbClr val="000000"/>
                </a:solidFill>
                <a:latin typeface="Inter"/>
                <a:ea typeface="Inter"/>
                <a:cs typeface="Inter"/>
                <a:sym typeface="Inter"/>
              </a:rPr>
              <a:t> Platform</a:t>
            </a:r>
            <a:endParaRPr lang="en-US" sz="2799" dirty="0">
              <a:solidFill>
                <a:srgbClr val="000000"/>
              </a:solidFill>
              <a:latin typeface="Inter"/>
              <a:ea typeface="Inter"/>
              <a:cs typeface="Inter"/>
              <a:sym typeface="Inter"/>
            </a:endParaRPr>
          </a:p>
        </p:txBody>
      </p:sp>
      <p:sp>
        <p:nvSpPr>
          <p:cNvPr id="18" name="TextBox 18"/>
          <p:cNvSpPr txBox="1"/>
          <p:nvPr/>
        </p:nvSpPr>
        <p:spPr>
          <a:xfrm>
            <a:off x="914400" y="3086100"/>
            <a:ext cx="8839199" cy="2769989"/>
          </a:xfrm>
          <a:prstGeom prst="rect">
            <a:avLst/>
          </a:prstGeom>
        </p:spPr>
        <p:txBody>
          <a:bodyPr wrap="square" lIns="0" tIns="0" rIns="0" bIns="0" rtlCol="0" anchor="t">
            <a:spAutoFit/>
          </a:bodyPr>
          <a:lstStyle/>
          <a:p>
            <a:pPr lvl="0"/>
            <a:r>
              <a:rPr lang="en-US" sz="7000" dirty="0" smtClean="0">
                <a:solidFill>
                  <a:srgbClr val="000000"/>
                </a:solidFill>
                <a:latin typeface="Inter Light"/>
                <a:ea typeface="Inter Light"/>
                <a:cs typeface="Inter Light"/>
                <a:sym typeface="Inter Light"/>
              </a:rPr>
              <a:t>Cloud Security</a:t>
            </a:r>
          </a:p>
          <a:p>
            <a:pPr lvl="0"/>
            <a:r>
              <a:rPr lang="en-US" sz="7000" dirty="0" smtClean="0">
                <a:solidFill>
                  <a:srgbClr val="000000"/>
                </a:solidFill>
                <a:latin typeface="Inter Light"/>
                <a:ea typeface="Inter Light"/>
                <a:cs typeface="Inter Light"/>
                <a:sym typeface="Inter Light"/>
              </a:rPr>
              <a:t>Monitoring System</a:t>
            </a:r>
          </a:p>
          <a:p>
            <a:pPr lvl="0"/>
            <a:r>
              <a:rPr lang="en-US" sz="4000" dirty="0" smtClean="0">
                <a:solidFill>
                  <a:srgbClr val="000000"/>
                </a:solidFill>
                <a:latin typeface="Inter Light"/>
                <a:ea typeface="Inter Light"/>
                <a:cs typeface="Inter Light"/>
                <a:sym typeface="Inter Light"/>
              </a:rPr>
              <a:t>with Incident Management Assistance</a:t>
            </a:r>
            <a:endParaRPr lang="en-US" sz="4000" dirty="0">
              <a:solidFill>
                <a:srgbClr val="000000"/>
              </a:solidFill>
              <a:latin typeface="Inter Light"/>
              <a:ea typeface="Inter Light"/>
              <a:cs typeface="Inter Light"/>
              <a:sym typeface="Inter Light"/>
            </a:endParaRPr>
          </a:p>
        </p:txBody>
      </p:sp>
      <p:pic>
        <p:nvPicPr>
          <p:cNvPr id="20" name="Picture 19" descr="images-removebg-preview (3).png"/>
          <p:cNvPicPr>
            <a:picLocks noChangeAspect="1"/>
          </p:cNvPicPr>
          <p:nvPr/>
        </p:nvPicPr>
        <p:blipFill>
          <a:blip r:embed="rId2" cstate="print"/>
          <a:stretch>
            <a:fillRect/>
          </a:stretch>
        </p:blipFill>
        <p:spPr>
          <a:xfrm>
            <a:off x="914400" y="1257300"/>
            <a:ext cx="609600" cy="609600"/>
          </a:xfrm>
          <a:prstGeom prst="rect">
            <a:avLst/>
          </a:prstGeom>
        </p:spPr>
      </p:pic>
      <p:pic>
        <p:nvPicPr>
          <p:cNvPr id="21" name="Picture 20" descr="the-future-of-cloud-security-Photoroom.png"/>
          <p:cNvPicPr>
            <a:picLocks noChangeAspect="1"/>
          </p:cNvPicPr>
          <p:nvPr/>
        </p:nvPicPr>
        <p:blipFill>
          <a:blip r:embed="rId3" cstate="print"/>
          <a:srcRect l="32407"/>
          <a:stretch>
            <a:fillRect/>
          </a:stretch>
        </p:blipFill>
        <p:spPr>
          <a:xfrm>
            <a:off x="9144000" y="571500"/>
            <a:ext cx="9448800" cy="851780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44400" y="234404"/>
            <a:ext cx="6172201" cy="9683937"/>
            <a:chOff x="0" y="-28575"/>
            <a:chExt cx="2242668" cy="2550502"/>
          </a:xfrm>
        </p:grpSpPr>
        <p:sp>
          <p:nvSpPr>
            <p:cNvPr id="3" name="Freeform 3"/>
            <p:cNvSpPr/>
            <p:nvPr/>
          </p:nvSpPr>
          <p:spPr>
            <a:xfrm>
              <a:off x="0" y="0"/>
              <a:ext cx="2242668" cy="2521927"/>
            </a:xfrm>
            <a:custGeom>
              <a:avLst/>
              <a:gdLst/>
              <a:ahLst/>
              <a:cxnLst/>
              <a:rect l="l" t="t" r="r" b="b"/>
              <a:pathLst>
                <a:path w="2159607" h="2521927">
                  <a:moveTo>
                    <a:pt x="66092" y="0"/>
                  </a:moveTo>
                  <a:lnTo>
                    <a:pt x="2093515" y="0"/>
                  </a:lnTo>
                  <a:cubicBezTo>
                    <a:pt x="2111044" y="0"/>
                    <a:pt x="2127854" y="6963"/>
                    <a:pt x="2140249" y="19358"/>
                  </a:cubicBezTo>
                  <a:cubicBezTo>
                    <a:pt x="2152643" y="31752"/>
                    <a:pt x="2159607" y="48563"/>
                    <a:pt x="2159607" y="66092"/>
                  </a:cubicBezTo>
                  <a:lnTo>
                    <a:pt x="2159607" y="2455835"/>
                  </a:lnTo>
                  <a:cubicBezTo>
                    <a:pt x="2159607" y="2473364"/>
                    <a:pt x="2152643" y="2490175"/>
                    <a:pt x="2140249" y="2502569"/>
                  </a:cubicBezTo>
                  <a:cubicBezTo>
                    <a:pt x="2127854" y="2514964"/>
                    <a:pt x="2111044" y="2521927"/>
                    <a:pt x="2093515" y="2521927"/>
                  </a:cubicBezTo>
                  <a:lnTo>
                    <a:pt x="66092" y="2521927"/>
                  </a:lnTo>
                  <a:cubicBezTo>
                    <a:pt x="48563" y="2521927"/>
                    <a:pt x="31752" y="2514964"/>
                    <a:pt x="19358" y="2502569"/>
                  </a:cubicBezTo>
                  <a:cubicBezTo>
                    <a:pt x="6963" y="2490175"/>
                    <a:pt x="0" y="2473364"/>
                    <a:pt x="0" y="2455835"/>
                  </a:cubicBezTo>
                  <a:lnTo>
                    <a:pt x="0" y="66092"/>
                  </a:lnTo>
                  <a:cubicBezTo>
                    <a:pt x="0" y="48563"/>
                    <a:pt x="6963" y="31752"/>
                    <a:pt x="19358" y="19358"/>
                  </a:cubicBezTo>
                  <a:cubicBezTo>
                    <a:pt x="31752" y="6963"/>
                    <a:pt x="48563" y="0"/>
                    <a:pt x="66092" y="0"/>
                  </a:cubicBezTo>
                  <a:close/>
                </a:path>
              </a:pathLst>
            </a:custGeom>
            <a:gradFill rotWithShape="1">
              <a:gsLst>
                <a:gs pos="0">
                  <a:srgbClr val="FFE27B">
                    <a:alpha val="100000"/>
                  </a:srgbClr>
                </a:gs>
                <a:gs pos="100000">
                  <a:srgbClr val="FF8C4C">
                    <a:alpha val="100000"/>
                  </a:srgbClr>
                </a:gs>
              </a:gsLst>
              <a:lin ang="5400000"/>
            </a:gradFill>
          </p:spPr>
          <p:txBody>
            <a:bodyPr/>
            <a:lstStyle/>
            <a:p>
              <a:r>
                <a:rPr lang="en-US" dirty="0" smtClean="0"/>
                <a:t> </a:t>
              </a:r>
              <a:endParaRPr lang="en-US" dirty="0"/>
            </a:p>
          </p:txBody>
        </p:sp>
        <p:sp>
          <p:nvSpPr>
            <p:cNvPr id="4" name="TextBox 4"/>
            <p:cNvSpPr txBox="1"/>
            <p:nvPr/>
          </p:nvSpPr>
          <p:spPr>
            <a:xfrm>
              <a:off x="0" y="-28575"/>
              <a:ext cx="2159606" cy="2550502"/>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375503" y="358826"/>
            <a:ext cx="11740297" cy="9575441"/>
            <a:chOff x="0" y="0"/>
            <a:chExt cx="4551214" cy="3926450"/>
          </a:xfrm>
        </p:grpSpPr>
        <p:sp>
          <p:nvSpPr>
            <p:cNvPr id="6" name="Freeform 6"/>
            <p:cNvSpPr/>
            <p:nvPr/>
          </p:nvSpPr>
          <p:spPr>
            <a:xfrm>
              <a:off x="0" y="0"/>
              <a:ext cx="4551214" cy="3926450"/>
            </a:xfrm>
            <a:custGeom>
              <a:avLst/>
              <a:gdLst/>
              <a:ahLst/>
              <a:cxnLst/>
              <a:rect l="l" t="t" r="r" b="b"/>
              <a:pathLst>
                <a:path w="4551214" h="3926450">
                  <a:moveTo>
                    <a:pt x="48827" y="0"/>
                  </a:moveTo>
                  <a:lnTo>
                    <a:pt x="4502387" y="0"/>
                  </a:lnTo>
                  <a:cubicBezTo>
                    <a:pt x="4515337" y="0"/>
                    <a:pt x="4527757" y="5144"/>
                    <a:pt x="4536913" y="14301"/>
                  </a:cubicBezTo>
                  <a:cubicBezTo>
                    <a:pt x="4546070" y="23458"/>
                    <a:pt x="4551214" y="35877"/>
                    <a:pt x="4551214" y="48827"/>
                  </a:cubicBezTo>
                  <a:lnTo>
                    <a:pt x="4551214" y="3877623"/>
                  </a:lnTo>
                  <a:cubicBezTo>
                    <a:pt x="4551214" y="3890573"/>
                    <a:pt x="4546070" y="3902992"/>
                    <a:pt x="4536913" y="3912149"/>
                  </a:cubicBezTo>
                  <a:cubicBezTo>
                    <a:pt x="4527757" y="3921306"/>
                    <a:pt x="4515337" y="3926450"/>
                    <a:pt x="4502387" y="3926450"/>
                  </a:cubicBezTo>
                  <a:lnTo>
                    <a:pt x="48827" y="3926450"/>
                  </a:lnTo>
                  <a:cubicBezTo>
                    <a:pt x="35877" y="3926450"/>
                    <a:pt x="23458" y="3921306"/>
                    <a:pt x="14301" y="3912149"/>
                  </a:cubicBezTo>
                  <a:cubicBezTo>
                    <a:pt x="5144" y="3902992"/>
                    <a:pt x="0" y="3890573"/>
                    <a:pt x="0" y="3877623"/>
                  </a:cubicBezTo>
                  <a:lnTo>
                    <a:pt x="0" y="48827"/>
                  </a:lnTo>
                  <a:cubicBezTo>
                    <a:pt x="0" y="35877"/>
                    <a:pt x="5144" y="23458"/>
                    <a:pt x="14301" y="14301"/>
                  </a:cubicBezTo>
                  <a:cubicBezTo>
                    <a:pt x="23458" y="5144"/>
                    <a:pt x="35877" y="0"/>
                    <a:pt x="48827" y="0"/>
                  </a:cubicBezTo>
                  <a:close/>
                </a:path>
              </a:pathLst>
            </a:custGeom>
            <a:solidFill>
              <a:srgbClr val="FFFFFF"/>
            </a:solidFill>
            <a:ln w="19050" cap="rnd">
              <a:solidFill>
                <a:srgbClr val="000000"/>
              </a:solidFill>
              <a:prstDash val="solid"/>
              <a:round/>
            </a:ln>
          </p:spPr>
        </p:sp>
        <p:sp>
          <p:nvSpPr>
            <p:cNvPr id="7" name="TextBox 7"/>
            <p:cNvSpPr txBox="1"/>
            <p:nvPr/>
          </p:nvSpPr>
          <p:spPr>
            <a:xfrm>
              <a:off x="0" y="-57150"/>
              <a:ext cx="4551214" cy="3983600"/>
            </a:xfrm>
            <a:prstGeom prst="rect">
              <a:avLst/>
            </a:prstGeom>
          </p:spPr>
          <p:txBody>
            <a:bodyPr lIns="50800" tIns="50800" rIns="50800" bIns="50800" rtlCol="0" anchor="ctr"/>
            <a:lstStyle/>
            <a:p>
              <a:pPr algn="ctr">
                <a:lnSpc>
                  <a:spcPts val="3150"/>
                </a:lnSpc>
              </a:pPr>
              <a:endParaRPr/>
            </a:p>
          </p:txBody>
        </p:sp>
      </p:grpSp>
      <p:sp>
        <p:nvSpPr>
          <p:cNvPr id="8" name="TextBox 8"/>
          <p:cNvSpPr txBox="1"/>
          <p:nvPr/>
        </p:nvSpPr>
        <p:spPr>
          <a:xfrm>
            <a:off x="914400" y="1562100"/>
            <a:ext cx="10896600" cy="8032968"/>
          </a:xfrm>
          <a:prstGeom prst="rect">
            <a:avLst/>
          </a:prstGeom>
        </p:spPr>
        <p:txBody>
          <a:bodyPr wrap="square" lIns="0" tIns="0" rIns="0" bIns="0" rtlCol="0" anchor="t">
            <a:spAutoFit/>
          </a:bodyPr>
          <a:lstStyle/>
          <a:p>
            <a:pPr>
              <a:lnSpc>
                <a:spcPct val="150000"/>
              </a:lnSpc>
              <a:buFont typeface="Arial" pitchFamily="34" charset="0"/>
              <a:buChar char="•"/>
            </a:pPr>
            <a:r>
              <a:rPr lang="en-US" sz="2900" dirty="0" smtClean="0">
                <a:solidFill>
                  <a:srgbClr val="000000"/>
                </a:solidFill>
                <a:latin typeface="Inter Light"/>
                <a:ea typeface="Inter Light"/>
                <a:cs typeface="Inter Light"/>
                <a:sym typeface="Inter Light"/>
              </a:rPr>
              <a:t> The Cloud Security Monitoring System with Incident Management Assistance is a cloud-native, Java and Spring Boot enterprise platform designed to monitor, audit, and secure organizational infrastructure, applications, and cloud resources. </a:t>
            </a:r>
          </a:p>
          <a:p>
            <a:pPr>
              <a:lnSpc>
                <a:spcPct val="150000"/>
              </a:lnSpc>
              <a:buFont typeface="Arial" pitchFamily="34" charset="0"/>
              <a:buChar char="•"/>
            </a:pPr>
            <a:r>
              <a:rPr lang="en-US" sz="2900" dirty="0" smtClean="0">
                <a:solidFill>
                  <a:srgbClr val="000000"/>
                </a:solidFill>
                <a:latin typeface="Inter Light"/>
                <a:ea typeface="Inter Light"/>
                <a:cs typeface="Inter Light"/>
                <a:sym typeface="Inter Light"/>
              </a:rPr>
              <a:t> With its real-time telemetry, vulnerability tracking, and automated event processing via Apache Kafka, the system provides security teams with continuous visibility into asset health, active incidents, and potential system risks.</a:t>
            </a:r>
          </a:p>
          <a:p>
            <a:pPr>
              <a:lnSpc>
                <a:spcPct val="150000"/>
              </a:lnSpc>
              <a:buFont typeface="Arial" pitchFamily="34" charset="0"/>
              <a:buChar char="•"/>
            </a:pPr>
            <a:r>
              <a:rPr lang="en-US" sz="2900" dirty="0" smtClean="0">
                <a:solidFill>
                  <a:srgbClr val="000000"/>
                </a:solidFill>
                <a:latin typeface="Inter Light"/>
                <a:ea typeface="Inter Light"/>
                <a:cs typeface="Inter Light"/>
                <a:sym typeface="Inter Light"/>
              </a:rPr>
              <a:t> This intuitive platform empowers administrators to manage infrastructure anomalies and accelerate incident resolution workflows, while streamlining compliance reporting and immutable audit logging for the organization”</a:t>
            </a:r>
            <a:endParaRPr lang="en-US" sz="2900" dirty="0">
              <a:solidFill>
                <a:srgbClr val="000000"/>
              </a:solidFill>
              <a:latin typeface="Inter Light"/>
              <a:ea typeface="Inter Light"/>
              <a:cs typeface="Inter Light"/>
              <a:sym typeface="Inter Light"/>
            </a:endParaRPr>
          </a:p>
        </p:txBody>
      </p:sp>
      <p:sp>
        <p:nvSpPr>
          <p:cNvPr id="9" name="TextBox 9"/>
          <p:cNvSpPr txBox="1"/>
          <p:nvPr/>
        </p:nvSpPr>
        <p:spPr>
          <a:xfrm>
            <a:off x="1143000" y="571500"/>
            <a:ext cx="7257328" cy="646524"/>
          </a:xfrm>
          <a:prstGeom prst="rect">
            <a:avLst/>
          </a:prstGeom>
        </p:spPr>
        <p:txBody>
          <a:bodyPr lIns="0" tIns="0" rIns="0" bIns="0" rtlCol="0" anchor="t">
            <a:spAutoFit/>
          </a:bodyPr>
          <a:lstStyle/>
          <a:p>
            <a:pPr marL="0" lvl="0" indent="0" algn="l">
              <a:lnSpc>
                <a:spcPts val="5040"/>
              </a:lnSpc>
              <a:spcBef>
                <a:spcPct val="0"/>
              </a:spcBef>
            </a:pPr>
            <a:r>
              <a:rPr lang="en-US" sz="5400" dirty="0" smtClean="0">
                <a:solidFill>
                  <a:srgbClr val="000000"/>
                </a:solidFill>
                <a:latin typeface="Inter Bold" charset="0"/>
                <a:ea typeface="Inter Bold" charset="0"/>
                <a:cs typeface="Inter"/>
                <a:sym typeface="Inter"/>
              </a:rPr>
              <a:t>Introduction</a:t>
            </a:r>
            <a:endParaRPr lang="en-US" sz="5400" dirty="0">
              <a:solidFill>
                <a:srgbClr val="000000"/>
              </a:solidFill>
              <a:latin typeface="Inter Bold" charset="0"/>
              <a:ea typeface="Inter Bold" charset="0"/>
              <a:cs typeface="Inter"/>
              <a:sym typeface="Inter"/>
            </a:endParaRPr>
          </a:p>
        </p:txBody>
      </p:sp>
      <p:sp>
        <p:nvSpPr>
          <p:cNvPr id="10" name="AutoShape 10"/>
          <p:cNvSpPr/>
          <p:nvPr/>
        </p:nvSpPr>
        <p:spPr>
          <a:xfrm>
            <a:off x="990600" y="1257300"/>
            <a:ext cx="8613420" cy="0"/>
          </a:xfrm>
          <a:prstGeom prst="line">
            <a:avLst/>
          </a:prstGeom>
          <a:ln w="19050" cap="flat">
            <a:solidFill>
              <a:srgbClr val="000000"/>
            </a:solidFill>
            <a:prstDash val="solid"/>
            <a:headEnd type="none" w="sm" len="sm"/>
            <a:tailEnd type="none" w="sm" len="sm"/>
          </a:ln>
        </p:spPr>
      </p:sp>
      <p:pic>
        <p:nvPicPr>
          <p:cNvPr id="13" name="Picture 12" descr="Masthead-14-Photoroom.png"/>
          <p:cNvPicPr>
            <a:picLocks noChangeAspect="1"/>
          </p:cNvPicPr>
          <p:nvPr/>
        </p:nvPicPr>
        <p:blipFill>
          <a:blip r:embed="rId2" cstate="print"/>
          <a:stretch>
            <a:fillRect/>
          </a:stretch>
        </p:blipFill>
        <p:spPr>
          <a:xfrm>
            <a:off x="11049000" y="1943100"/>
            <a:ext cx="7467600" cy="69342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1000" y="355779"/>
            <a:ext cx="17554269" cy="9575441"/>
            <a:chOff x="0" y="0"/>
            <a:chExt cx="3271888" cy="2521927"/>
          </a:xfrm>
        </p:grpSpPr>
        <p:sp>
          <p:nvSpPr>
            <p:cNvPr id="3" name="Freeform 3"/>
            <p:cNvSpPr/>
            <p:nvPr/>
          </p:nvSpPr>
          <p:spPr>
            <a:xfrm>
              <a:off x="0" y="0"/>
              <a:ext cx="3271887" cy="2521927"/>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4"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9" name="AutoShape 9"/>
          <p:cNvSpPr/>
          <p:nvPr/>
        </p:nvSpPr>
        <p:spPr>
          <a:xfrm>
            <a:off x="3505200" y="1409700"/>
            <a:ext cx="10820400" cy="0"/>
          </a:xfrm>
          <a:prstGeom prst="line">
            <a:avLst/>
          </a:prstGeom>
          <a:ln w="19050" cap="flat">
            <a:solidFill>
              <a:srgbClr val="000000"/>
            </a:solidFill>
            <a:prstDash val="solid"/>
            <a:headEnd type="none" w="sm" len="sm"/>
            <a:tailEnd type="none" w="sm" len="sm"/>
          </a:ln>
        </p:spPr>
      </p:sp>
      <p:sp>
        <p:nvSpPr>
          <p:cNvPr id="11" name="TextBox 11"/>
          <p:cNvSpPr txBox="1"/>
          <p:nvPr/>
        </p:nvSpPr>
        <p:spPr>
          <a:xfrm>
            <a:off x="457200" y="4953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Platform Overview &amp; Core Capabilities</a:t>
            </a:r>
            <a:endParaRPr lang="en-US" sz="5400" b="1" dirty="0">
              <a:solidFill>
                <a:srgbClr val="000000"/>
              </a:solidFill>
              <a:latin typeface="Inter Bold" charset="0"/>
              <a:ea typeface="Inter Bold" charset="0"/>
              <a:cs typeface="Inter Light"/>
              <a:sym typeface="Inter Light"/>
            </a:endParaRPr>
          </a:p>
        </p:txBody>
      </p:sp>
      <p:sp>
        <p:nvSpPr>
          <p:cNvPr id="12" name="TextBox 12"/>
          <p:cNvSpPr txBox="1"/>
          <p:nvPr/>
        </p:nvSpPr>
        <p:spPr>
          <a:xfrm>
            <a:off x="762000" y="1562100"/>
            <a:ext cx="16916400" cy="8029249"/>
          </a:xfrm>
          <a:prstGeom prst="rect">
            <a:avLst/>
          </a:prstGeom>
        </p:spPr>
        <p:txBody>
          <a:bodyPr wrap="square" lIns="0" tIns="0" rIns="0" bIns="0" rtlCol="0" anchor="t">
            <a:spAutoFit/>
          </a:bodyPr>
          <a:lstStyle/>
          <a:p>
            <a:pPr>
              <a:lnSpc>
                <a:spcPct val="150000"/>
              </a:lnSpc>
            </a:pPr>
            <a:r>
              <a:rPr lang="en-US" sz="2700" dirty="0" smtClean="0">
                <a:solidFill>
                  <a:srgbClr val="000000"/>
                </a:solidFill>
                <a:latin typeface="Inter Light" charset="0"/>
                <a:ea typeface="Inter Light" charset="0"/>
                <a:cs typeface="Inter"/>
                <a:sym typeface="Inter"/>
              </a:rPr>
              <a:t>An enterprise-grade, cloud-native Security Operations and Infrastructure Monitoring platform engineered to automate telemetry tracking, incident response, vulnerability lifecycles, and compliance auditing.</a:t>
            </a:r>
          </a:p>
          <a:p>
            <a:pPr>
              <a:lnSpc>
                <a:spcPct val="150000"/>
              </a:lnSpc>
            </a:pPr>
            <a:r>
              <a:rPr lang="en-US" sz="2700" b="1" dirty="0" smtClean="0">
                <a:solidFill>
                  <a:srgbClr val="000000"/>
                </a:solidFill>
                <a:latin typeface="Inter Light" charset="0"/>
                <a:ea typeface="Inter Light" charset="0"/>
                <a:cs typeface="Inter"/>
                <a:sym typeface="Inter"/>
              </a:rPr>
              <a:t>Core Operational Pillars :</a:t>
            </a:r>
          </a:p>
          <a:p>
            <a:pPr lvl="1">
              <a:lnSpc>
                <a:spcPct val="150000"/>
              </a:lnSpc>
              <a:buFont typeface="Arial" pitchFamily="34" charset="0"/>
              <a:buChar char="•"/>
            </a:pPr>
            <a:r>
              <a:rPr lang="en-US" sz="2700" b="1" dirty="0" smtClean="0">
                <a:latin typeface="Inter Light" charset="0"/>
                <a:ea typeface="Inter Light" charset="0"/>
              </a:rPr>
              <a:t> Infrastructure Telemetry:</a:t>
            </a:r>
            <a:r>
              <a:rPr lang="en-US" sz="2700" dirty="0" smtClean="0">
                <a:latin typeface="Inter Light" charset="0"/>
                <a:ea typeface="Inter Light" charset="0"/>
              </a:rPr>
              <a:t> Real-time monitoring across 2,847+ servers and cloud nodes (AWS/Azure) with automated resource scaling. </a:t>
            </a:r>
          </a:p>
          <a:p>
            <a:pPr lvl="1">
              <a:lnSpc>
                <a:spcPct val="150000"/>
              </a:lnSpc>
              <a:buFont typeface="Arial" pitchFamily="34" charset="0"/>
              <a:buChar char="•"/>
            </a:pPr>
            <a:r>
              <a:rPr lang="en-US" sz="2700" b="1" dirty="0" smtClean="0">
                <a:latin typeface="Inter Light" charset="0"/>
                <a:ea typeface="Inter Light" charset="0"/>
              </a:rPr>
              <a:t> Incident Lifecycle Management:</a:t>
            </a:r>
            <a:r>
              <a:rPr lang="en-US" sz="2700" dirty="0" smtClean="0">
                <a:latin typeface="Inter Light" charset="0"/>
                <a:ea typeface="Inter Light" charset="0"/>
              </a:rPr>
              <a:t> End-to-end detection, severity classification, team dispatching, and SLA-driven tracking. </a:t>
            </a:r>
          </a:p>
          <a:p>
            <a:pPr lvl="1">
              <a:lnSpc>
                <a:spcPct val="150000"/>
              </a:lnSpc>
              <a:buFont typeface="Arial" pitchFamily="34" charset="0"/>
              <a:buChar char="•"/>
            </a:pPr>
            <a:r>
              <a:rPr lang="en-US" sz="2700" b="1" dirty="0" smtClean="0">
                <a:latin typeface="Inter Light" charset="0"/>
                <a:ea typeface="Inter Light" charset="0"/>
              </a:rPr>
              <a:t> Vulnerability Assessment:</a:t>
            </a:r>
            <a:r>
              <a:rPr lang="en-US" sz="2700" dirty="0" smtClean="0">
                <a:latin typeface="Inter Light" charset="0"/>
                <a:ea typeface="Inter Light" charset="0"/>
              </a:rPr>
              <a:t> Continuous CVE tracking, risk scoring reduction (from 8.7 to 2.3), and automated scanner </a:t>
            </a:r>
            <a:r>
              <a:rPr lang="en-US" sz="2700" dirty="0" smtClean="0">
                <a:latin typeface="Inter Light" charset="0"/>
                <a:ea typeface="Inter Light" charset="0"/>
              </a:rPr>
              <a:t>integration. </a:t>
            </a:r>
            <a:endParaRPr lang="en-US" sz="2700" dirty="0" smtClean="0">
              <a:latin typeface="Inter Light" charset="0"/>
              <a:ea typeface="Inter Light" charset="0"/>
            </a:endParaRPr>
          </a:p>
          <a:p>
            <a:pPr lvl="1">
              <a:lnSpc>
                <a:spcPct val="150000"/>
              </a:lnSpc>
              <a:buFont typeface="Arial" pitchFamily="34" charset="0"/>
              <a:buChar char="•"/>
            </a:pPr>
            <a:r>
              <a:rPr lang="en-US" sz="2700" b="1" dirty="0" smtClean="0">
                <a:latin typeface="Inter Light" charset="0"/>
                <a:ea typeface="Inter Light" charset="0"/>
              </a:rPr>
              <a:t> Audit &amp; Compliance Governance:</a:t>
            </a:r>
            <a:r>
              <a:rPr lang="en-US" sz="2700" dirty="0" smtClean="0">
                <a:latin typeface="Inter Light" charset="0"/>
                <a:ea typeface="Inter Light" charset="0"/>
              </a:rPr>
              <a:t> Immutable, encrypted audit trails ensuring 100% adherence to PCI DSS, SOC 2, and ISO 27001 standards. </a:t>
            </a:r>
          </a:p>
          <a:p>
            <a:pPr lvl="1">
              <a:lnSpc>
                <a:spcPct val="150000"/>
              </a:lnSpc>
              <a:buFont typeface="Arial" pitchFamily="34" charset="0"/>
              <a:buChar char="•"/>
            </a:pPr>
            <a:r>
              <a:rPr lang="en-US" sz="2700" b="1" dirty="0" smtClean="0">
                <a:latin typeface="Inter Light" charset="0"/>
                <a:ea typeface="Inter Light" charset="0"/>
              </a:rPr>
              <a:t> Unified </a:t>
            </a:r>
            <a:r>
              <a:rPr lang="en-US" sz="2700" b="1" dirty="0" err="1" smtClean="0">
                <a:latin typeface="Inter Light" charset="0"/>
                <a:ea typeface="Inter Light" charset="0"/>
              </a:rPr>
              <a:t>SecOps</a:t>
            </a:r>
            <a:r>
              <a:rPr lang="en-US" sz="2700" b="1" dirty="0" smtClean="0">
                <a:latin typeface="Inter Light" charset="0"/>
                <a:ea typeface="Inter Light" charset="0"/>
              </a:rPr>
              <a:t> Command:</a:t>
            </a:r>
            <a:r>
              <a:rPr lang="en-US" sz="2700" dirty="0" smtClean="0">
                <a:latin typeface="Inter Light" charset="0"/>
                <a:ea typeface="Inter Light" charset="0"/>
              </a:rPr>
              <a:t> Centralized dashboard integrating telemetry, security alerts, and executive reporting.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devops-engineer-vector-lineal-icon-260nw-2628252985-removebg-preview (1).png"/>
          <p:cNvPicPr>
            <a:picLocks noChangeAspect="1"/>
          </p:cNvPicPr>
          <p:nvPr/>
        </p:nvPicPr>
        <p:blipFill>
          <a:blip r:embed="rId3" cstate="print"/>
          <a:srcRect b="10714"/>
          <a:stretch>
            <a:fillRect/>
          </a:stretch>
        </p:blipFill>
        <p:spPr>
          <a:xfrm>
            <a:off x="10210800" y="1485900"/>
            <a:ext cx="2209800" cy="2124808"/>
          </a:xfrm>
          <a:prstGeom prst="rect">
            <a:avLst/>
          </a:prstGeom>
        </p:spPr>
      </p:pic>
      <p:sp>
        <p:nvSpPr>
          <p:cNvPr id="44" name="Oval 43"/>
          <p:cNvSpPr/>
          <p:nvPr/>
        </p:nvSpPr>
        <p:spPr>
          <a:xfrm>
            <a:off x="-2705100" y="7429500"/>
            <a:ext cx="5410200" cy="50292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609600" y="266700"/>
            <a:ext cx="15773400" cy="1125821"/>
          </a:xfrm>
          <a:prstGeom prst="rect">
            <a:avLst/>
          </a:prstGeom>
        </p:spPr>
        <p:txBody>
          <a:bodyPr wrap="square" lIns="0" tIns="0" rIns="0" bIns="0" rtlCol="0" anchor="t">
            <a:spAutoFit/>
          </a:bodyPr>
          <a:lstStyle/>
          <a:p>
            <a:pPr marL="0" lvl="0" indent="0" algn="l">
              <a:lnSpc>
                <a:spcPts val="9600"/>
              </a:lnSpc>
              <a:spcBef>
                <a:spcPct val="0"/>
              </a:spcBef>
            </a:pPr>
            <a:r>
              <a:rPr lang="en-US" sz="5400" u="none" strike="noStrike" dirty="0" smtClean="0">
                <a:solidFill>
                  <a:srgbClr val="000000"/>
                </a:solidFill>
                <a:latin typeface="Inter Bold" charset="0"/>
                <a:ea typeface="Inter Bold" charset="0"/>
                <a:cs typeface="Inter Light"/>
                <a:sym typeface="Inter Light"/>
              </a:rPr>
              <a:t>Role-Based Access Control (RBAC)</a:t>
            </a:r>
            <a:endParaRPr lang="en-US" sz="5400" u="none" strike="noStrike" dirty="0">
              <a:solidFill>
                <a:srgbClr val="000000"/>
              </a:solidFill>
              <a:latin typeface="Inter Bold" charset="0"/>
              <a:ea typeface="Inter Bold" charset="0"/>
              <a:cs typeface="Inter Light"/>
              <a:sym typeface="Inter Light"/>
            </a:endParaRPr>
          </a:p>
        </p:txBody>
      </p:sp>
      <p:grpSp>
        <p:nvGrpSpPr>
          <p:cNvPr id="3" name="Group 3"/>
          <p:cNvGrpSpPr/>
          <p:nvPr/>
        </p:nvGrpSpPr>
        <p:grpSpPr>
          <a:xfrm>
            <a:off x="381000" y="3467100"/>
            <a:ext cx="4217274" cy="6467167"/>
            <a:chOff x="0" y="0"/>
            <a:chExt cx="1104068" cy="1482512"/>
          </a:xfrm>
        </p:grpSpPr>
        <p:sp>
          <p:nvSpPr>
            <p:cNvPr id="4" name="Freeform 4"/>
            <p:cNvSpPr/>
            <p:nvPr/>
          </p:nvSpPr>
          <p:spPr>
            <a:xfrm>
              <a:off x="0" y="0"/>
              <a:ext cx="1104068" cy="1482512"/>
            </a:xfrm>
            <a:custGeom>
              <a:avLst/>
              <a:gdLst/>
              <a:ahLst/>
              <a:cxnLst/>
              <a:rect l="l" t="t" r="r" b="b"/>
              <a:pathLst>
                <a:path w="1104068" h="1482512">
                  <a:moveTo>
                    <a:pt x="128503" y="0"/>
                  </a:moveTo>
                  <a:lnTo>
                    <a:pt x="975564" y="0"/>
                  </a:lnTo>
                  <a:cubicBezTo>
                    <a:pt x="1046535" y="0"/>
                    <a:pt x="1104068" y="57533"/>
                    <a:pt x="1104068" y="128503"/>
                  </a:cubicBezTo>
                  <a:lnTo>
                    <a:pt x="1104068" y="1354008"/>
                  </a:lnTo>
                  <a:cubicBezTo>
                    <a:pt x="1104068" y="1424979"/>
                    <a:pt x="1046535" y="1482512"/>
                    <a:pt x="975564" y="1482512"/>
                  </a:cubicBezTo>
                  <a:lnTo>
                    <a:pt x="128503" y="1482512"/>
                  </a:lnTo>
                  <a:cubicBezTo>
                    <a:pt x="57533" y="1482512"/>
                    <a:pt x="0" y="1424979"/>
                    <a:pt x="0" y="1354008"/>
                  </a:cubicBezTo>
                  <a:lnTo>
                    <a:pt x="0" y="128503"/>
                  </a:lnTo>
                  <a:cubicBezTo>
                    <a:pt x="0" y="57533"/>
                    <a:pt x="57533" y="0"/>
                    <a:pt x="128503" y="0"/>
                  </a:cubicBezTo>
                  <a:close/>
                </a:path>
              </a:pathLst>
            </a:custGeom>
            <a:gradFill rotWithShape="1">
              <a:gsLst>
                <a:gs pos="0">
                  <a:srgbClr val="76E367">
                    <a:alpha val="100000"/>
                  </a:srgbClr>
                </a:gs>
                <a:gs pos="100000">
                  <a:srgbClr val="EAEC47">
                    <a:alpha val="100000"/>
                  </a:srgbClr>
                </a:gs>
              </a:gsLst>
              <a:lin ang="5400000"/>
            </a:gradFill>
          </p:spPr>
        </p:sp>
        <p:sp>
          <p:nvSpPr>
            <p:cNvPr id="5" name="TextBox 5"/>
            <p:cNvSpPr txBox="1"/>
            <p:nvPr/>
          </p:nvSpPr>
          <p:spPr>
            <a:xfrm>
              <a:off x="0" y="-28575"/>
              <a:ext cx="1104068" cy="1511087"/>
            </a:xfrm>
            <a:prstGeom prst="rect">
              <a:avLst/>
            </a:prstGeom>
          </p:spPr>
          <p:txBody>
            <a:bodyPr lIns="50800" tIns="50800" rIns="50800" bIns="50800" rtlCol="0" anchor="ctr"/>
            <a:lstStyle/>
            <a:p>
              <a:pPr algn="ctr">
                <a:lnSpc>
                  <a:spcPts val="1960"/>
                </a:lnSpc>
              </a:pPr>
              <a:endParaRPr/>
            </a:p>
          </p:txBody>
        </p:sp>
      </p:grpSp>
      <p:sp>
        <p:nvSpPr>
          <p:cNvPr id="6" name="TextBox 6"/>
          <p:cNvSpPr txBox="1"/>
          <p:nvPr/>
        </p:nvSpPr>
        <p:spPr>
          <a:xfrm>
            <a:off x="609600" y="4305300"/>
            <a:ext cx="3733800" cy="5355312"/>
          </a:xfrm>
          <a:prstGeom prst="rect">
            <a:avLst/>
          </a:prstGeom>
        </p:spPr>
        <p:txBody>
          <a:bodyPr wrap="square" lIns="0" tIns="0" rIns="0" bIns="0" rtlCol="0" anchor="t">
            <a:spAutoFit/>
          </a:bodyPr>
          <a:lstStyle/>
          <a:p>
            <a:pPr>
              <a:spcBef>
                <a:spcPts val="600"/>
              </a:spcBef>
              <a:spcAft>
                <a:spcPts val="600"/>
              </a:spcAft>
              <a:buFont typeface="Arial" pitchFamily="34" charset="0"/>
              <a:buChar char="•"/>
            </a:pPr>
            <a:r>
              <a:rPr lang="en-US" sz="2800" dirty="0" smtClean="0">
                <a:latin typeface="Inter Light" charset="0"/>
                <a:ea typeface="Inter Light" charset="0"/>
              </a:rPr>
              <a:t> View personal dashboard &amp; notifications</a:t>
            </a:r>
          </a:p>
          <a:p>
            <a:pPr>
              <a:spcBef>
                <a:spcPts val="600"/>
              </a:spcBef>
              <a:spcAft>
                <a:spcPts val="600"/>
              </a:spcAft>
              <a:buFont typeface="Arial" pitchFamily="34" charset="0"/>
              <a:buChar char="•"/>
            </a:pPr>
            <a:r>
              <a:rPr lang="en-US" sz="2800" dirty="0" smtClean="0">
                <a:latin typeface="Inter Light" charset="0"/>
                <a:ea typeface="Inter Light" charset="0"/>
              </a:rPr>
              <a:t> Interact with AI    Security </a:t>
            </a:r>
            <a:r>
              <a:rPr lang="en-US" sz="2800" dirty="0" err="1" smtClean="0">
                <a:latin typeface="Inter Light" charset="0"/>
                <a:ea typeface="Inter Light" charset="0"/>
              </a:rPr>
              <a:t>ChatBot</a:t>
            </a:r>
            <a:endParaRPr lang="en-US" sz="2800" dirty="0" smtClean="0">
              <a:latin typeface="Inter Light" charset="0"/>
              <a:ea typeface="Inter Light" charset="0"/>
            </a:endParaRPr>
          </a:p>
          <a:p>
            <a:pPr>
              <a:spcBef>
                <a:spcPts val="600"/>
              </a:spcBef>
              <a:spcAft>
                <a:spcPts val="600"/>
              </a:spcAft>
              <a:buFont typeface="Arial" pitchFamily="34" charset="0"/>
              <a:buChar char="•"/>
            </a:pPr>
            <a:r>
              <a:rPr lang="en-US" sz="2800" dirty="0" smtClean="0">
                <a:latin typeface="Inter Light" charset="0"/>
                <a:ea typeface="Inter Light" charset="0"/>
              </a:rPr>
              <a:t> Submit admin privilege requests</a:t>
            </a:r>
          </a:p>
          <a:p>
            <a:pPr>
              <a:spcBef>
                <a:spcPts val="600"/>
              </a:spcBef>
              <a:spcAft>
                <a:spcPts val="600"/>
              </a:spcAft>
              <a:buFont typeface="Arial" pitchFamily="34" charset="0"/>
              <a:buChar char="•"/>
            </a:pPr>
            <a:r>
              <a:rPr lang="en-US" sz="2800" dirty="0" smtClean="0">
                <a:latin typeface="Inter Light" charset="0"/>
                <a:ea typeface="Inter Light" charset="0"/>
              </a:rPr>
              <a:t> Report suspected security incidents</a:t>
            </a:r>
          </a:p>
          <a:p>
            <a:pPr>
              <a:spcBef>
                <a:spcPts val="600"/>
              </a:spcBef>
              <a:spcAft>
                <a:spcPts val="600"/>
              </a:spcAft>
              <a:buFont typeface="Arial" pitchFamily="34" charset="0"/>
              <a:buChar char="•"/>
            </a:pPr>
            <a:r>
              <a:rPr lang="en-US" sz="2800" dirty="0" smtClean="0">
                <a:latin typeface="Inter Light" charset="0"/>
                <a:ea typeface="Inter Light" charset="0"/>
              </a:rPr>
              <a:t> View assigned infrastructure assets</a:t>
            </a:r>
          </a:p>
        </p:txBody>
      </p:sp>
      <p:grpSp>
        <p:nvGrpSpPr>
          <p:cNvPr id="11" name="Group 11"/>
          <p:cNvGrpSpPr/>
          <p:nvPr/>
        </p:nvGrpSpPr>
        <p:grpSpPr>
          <a:xfrm>
            <a:off x="13717994" y="3467100"/>
            <a:ext cx="4217274" cy="6467167"/>
            <a:chOff x="0" y="0"/>
            <a:chExt cx="1104068" cy="1482512"/>
          </a:xfrm>
        </p:grpSpPr>
        <p:sp>
          <p:nvSpPr>
            <p:cNvPr id="12" name="Freeform 12"/>
            <p:cNvSpPr/>
            <p:nvPr/>
          </p:nvSpPr>
          <p:spPr>
            <a:xfrm>
              <a:off x="0" y="0"/>
              <a:ext cx="1104068" cy="1482512"/>
            </a:xfrm>
            <a:custGeom>
              <a:avLst/>
              <a:gdLst/>
              <a:ahLst/>
              <a:cxnLst/>
              <a:rect l="l" t="t" r="r" b="b"/>
              <a:pathLst>
                <a:path w="1104068" h="1482512">
                  <a:moveTo>
                    <a:pt x="128503" y="0"/>
                  </a:moveTo>
                  <a:lnTo>
                    <a:pt x="975564" y="0"/>
                  </a:lnTo>
                  <a:cubicBezTo>
                    <a:pt x="1046535" y="0"/>
                    <a:pt x="1104068" y="57533"/>
                    <a:pt x="1104068" y="128503"/>
                  </a:cubicBezTo>
                  <a:lnTo>
                    <a:pt x="1104068" y="1354008"/>
                  </a:lnTo>
                  <a:cubicBezTo>
                    <a:pt x="1104068" y="1424979"/>
                    <a:pt x="1046535" y="1482512"/>
                    <a:pt x="975564" y="1482512"/>
                  </a:cubicBezTo>
                  <a:lnTo>
                    <a:pt x="128503" y="1482512"/>
                  </a:lnTo>
                  <a:cubicBezTo>
                    <a:pt x="57533" y="1482512"/>
                    <a:pt x="0" y="1424979"/>
                    <a:pt x="0" y="1354008"/>
                  </a:cubicBezTo>
                  <a:lnTo>
                    <a:pt x="0" y="128503"/>
                  </a:lnTo>
                  <a:cubicBezTo>
                    <a:pt x="0" y="57533"/>
                    <a:pt x="57533" y="0"/>
                    <a:pt x="128503" y="0"/>
                  </a:cubicBezTo>
                  <a:close/>
                </a:path>
              </a:pathLst>
            </a:custGeom>
            <a:gradFill rotWithShape="1">
              <a:gsLst>
                <a:gs pos="0">
                  <a:srgbClr val="AF70FF">
                    <a:alpha val="100000"/>
                  </a:srgbClr>
                </a:gs>
                <a:gs pos="100000">
                  <a:srgbClr val="FF8CED">
                    <a:alpha val="100000"/>
                  </a:srgbClr>
                </a:gs>
              </a:gsLst>
              <a:path path="circle">
                <a:fillToRect r="100000" b="100000"/>
              </a:path>
              <a:tileRect l="-100000" t="-100000"/>
            </a:gradFill>
          </p:spPr>
        </p:sp>
        <p:sp>
          <p:nvSpPr>
            <p:cNvPr id="13" name="TextBox 13"/>
            <p:cNvSpPr txBox="1"/>
            <p:nvPr/>
          </p:nvSpPr>
          <p:spPr>
            <a:xfrm>
              <a:off x="0" y="-28575"/>
              <a:ext cx="1104068" cy="1511087"/>
            </a:xfrm>
            <a:prstGeom prst="rect">
              <a:avLst/>
            </a:prstGeom>
          </p:spPr>
          <p:txBody>
            <a:bodyPr lIns="50800" tIns="50800" rIns="50800" bIns="50800" rtlCol="0" anchor="ctr"/>
            <a:lstStyle/>
            <a:p>
              <a:pPr algn="ctr">
                <a:lnSpc>
                  <a:spcPts val="1960"/>
                </a:lnSpc>
              </a:pPr>
              <a:endParaRPr/>
            </a:p>
          </p:txBody>
        </p:sp>
      </p:grpSp>
      <p:sp>
        <p:nvSpPr>
          <p:cNvPr id="14" name="TextBox 14"/>
          <p:cNvSpPr txBox="1"/>
          <p:nvPr/>
        </p:nvSpPr>
        <p:spPr>
          <a:xfrm>
            <a:off x="14097000" y="4457700"/>
            <a:ext cx="3505200" cy="4924425"/>
          </a:xfrm>
          <a:prstGeom prst="rect">
            <a:avLst/>
          </a:prstGeom>
        </p:spPr>
        <p:txBody>
          <a:bodyPr wrap="square" lIns="0" tIns="0" rIns="0" bIns="0" rtlCol="0" anchor="t">
            <a:spAutoFit/>
          </a:bodyPr>
          <a:lstStyle/>
          <a:p>
            <a:pPr>
              <a:spcBef>
                <a:spcPts val="600"/>
              </a:spcBef>
              <a:spcAft>
                <a:spcPts val="600"/>
              </a:spcAft>
              <a:buFont typeface="Arial" pitchFamily="34" charset="0"/>
              <a:buChar char="•"/>
            </a:pPr>
            <a:r>
              <a:rPr lang="en-US" sz="2800" dirty="0" smtClean="0">
                <a:latin typeface="Inter Light" charset="0"/>
                <a:ea typeface="Inter Light" charset="0"/>
              </a:rPr>
              <a:t> Full user lifecycle management</a:t>
            </a:r>
          </a:p>
          <a:p>
            <a:pPr>
              <a:spcBef>
                <a:spcPts val="600"/>
              </a:spcBef>
              <a:spcAft>
                <a:spcPts val="600"/>
              </a:spcAft>
              <a:buFont typeface="Arial" pitchFamily="34" charset="0"/>
              <a:buChar char="•"/>
            </a:pPr>
            <a:r>
              <a:rPr lang="en-US" sz="2800" dirty="0" smtClean="0">
                <a:latin typeface="Inter Light" charset="0"/>
                <a:ea typeface="Inter Light" charset="0"/>
              </a:rPr>
              <a:t> Approve / reject access requests</a:t>
            </a:r>
          </a:p>
          <a:p>
            <a:pPr>
              <a:spcBef>
                <a:spcPts val="600"/>
              </a:spcBef>
              <a:spcAft>
                <a:spcPts val="600"/>
              </a:spcAft>
              <a:buFont typeface="Arial" pitchFamily="34" charset="0"/>
              <a:buChar char="•"/>
            </a:pPr>
            <a:r>
              <a:rPr lang="en-US" sz="2800" dirty="0" smtClean="0">
                <a:latin typeface="Inter Light" charset="0"/>
                <a:ea typeface="Inter Light" charset="0"/>
              </a:rPr>
              <a:t> Audit logging &amp; compliance checks</a:t>
            </a:r>
          </a:p>
          <a:p>
            <a:pPr>
              <a:spcBef>
                <a:spcPts val="600"/>
              </a:spcBef>
              <a:spcAft>
                <a:spcPts val="600"/>
              </a:spcAft>
              <a:buFont typeface="Arial" pitchFamily="34" charset="0"/>
              <a:buChar char="•"/>
            </a:pPr>
            <a:r>
              <a:rPr lang="en-US" sz="2800" dirty="0" smtClean="0">
                <a:latin typeface="Inter Light" charset="0"/>
                <a:ea typeface="Inter Light" charset="0"/>
              </a:rPr>
              <a:t> Access executive analytics</a:t>
            </a:r>
          </a:p>
          <a:p>
            <a:pPr>
              <a:spcBef>
                <a:spcPts val="600"/>
              </a:spcBef>
              <a:spcAft>
                <a:spcPts val="600"/>
              </a:spcAft>
              <a:buFont typeface="Arial" pitchFamily="34" charset="0"/>
              <a:buChar char="•"/>
            </a:pPr>
            <a:r>
              <a:rPr lang="en-US" sz="2800" dirty="0" smtClean="0">
                <a:latin typeface="Inter Light" charset="0"/>
                <a:ea typeface="Inter Light" charset="0"/>
              </a:rPr>
              <a:t> Manage system security policies</a:t>
            </a:r>
          </a:p>
        </p:txBody>
      </p:sp>
      <p:grpSp>
        <p:nvGrpSpPr>
          <p:cNvPr id="19" name="Group 19"/>
          <p:cNvGrpSpPr/>
          <p:nvPr/>
        </p:nvGrpSpPr>
        <p:grpSpPr>
          <a:xfrm>
            <a:off x="4896266" y="3467100"/>
            <a:ext cx="4217274" cy="6467167"/>
            <a:chOff x="0" y="0"/>
            <a:chExt cx="1104068" cy="1482512"/>
          </a:xfrm>
        </p:grpSpPr>
        <p:sp>
          <p:nvSpPr>
            <p:cNvPr id="20" name="Freeform 20"/>
            <p:cNvSpPr/>
            <p:nvPr/>
          </p:nvSpPr>
          <p:spPr>
            <a:xfrm>
              <a:off x="0" y="0"/>
              <a:ext cx="1104068" cy="1482512"/>
            </a:xfrm>
            <a:custGeom>
              <a:avLst/>
              <a:gdLst/>
              <a:ahLst/>
              <a:cxnLst/>
              <a:rect l="l" t="t" r="r" b="b"/>
              <a:pathLst>
                <a:path w="1104068" h="1482512">
                  <a:moveTo>
                    <a:pt x="128503" y="0"/>
                  </a:moveTo>
                  <a:lnTo>
                    <a:pt x="975564" y="0"/>
                  </a:lnTo>
                  <a:cubicBezTo>
                    <a:pt x="1046535" y="0"/>
                    <a:pt x="1104068" y="57533"/>
                    <a:pt x="1104068" y="128503"/>
                  </a:cubicBezTo>
                  <a:lnTo>
                    <a:pt x="1104068" y="1354008"/>
                  </a:lnTo>
                  <a:cubicBezTo>
                    <a:pt x="1104068" y="1424979"/>
                    <a:pt x="1046535" y="1482512"/>
                    <a:pt x="975564" y="1482512"/>
                  </a:cubicBezTo>
                  <a:lnTo>
                    <a:pt x="128503" y="1482512"/>
                  </a:lnTo>
                  <a:cubicBezTo>
                    <a:pt x="57533" y="1482512"/>
                    <a:pt x="0" y="1424979"/>
                    <a:pt x="0" y="1354008"/>
                  </a:cubicBezTo>
                  <a:lnTo>
                    <a:pt x="0" y="128503"/>
                  </a:lnTo>
                  <a:cubicBezTo>
                    <a:pt x="0" y="57533"/>
                    <a:pt x="57533" y="0"/>
                    <a:pt x="128503" y="0"/>
                  </a:cubicBezTo>
                  <a:close/>
                </a:path>
              </a:pathLst>
            </a:custGeom>
            <a:gradFill rotWithShape="1">
              <a:gsLst>
                <a:gs pos="0">
                  <a:srgbClr val="FF8C4C">
                    <a:alpha val="100000"/>
                  </a:srgbClr>
                </a:gs>
                <a:gs pos="100000">
                  <a:srgbClr val="FFE27B">
                    <a:alpha val="100000"/>
                  </a:srgbClr>
                </a:gs>
              </a:gsLst>
              <a:lin ang="5400000"/>
            </a:gradFill>
          </p:spPr>
        </p:sp>
        <p:sp>
          <p:nvSpPr>
            <p:cNvPr id="21" name="TextBox 21"/>
            <p:cNvSpPr txBox="1"/>
            <p:nvPr/>
          </p:nvSpPr>
          <p:spPr>
            <a:xfrm>
              <a:off x="0" y="-28575"/>
              <a:ext cx="1104068" cy="1511087"/>
            </a:xfrm>
            <a:prstGeom prst="rect">
              <a:avLst/>
            </a:prstGeom>
          </p:spPr>
          <p:txBody>
            <a:bodyPr lIns="50800" tIns="50800" rIns="50800" bIns="50800" rtlCol="0" anchor="ctr"/>
            <a:lstStyle/>
            <a:p>
              <a:pPr algn="ctr">
                <a:lnSpc>
                  <a:spcPts val="1960"/>
                </a:lnSpc>
              </a:pPr>
              <a:endParaRPr/>
            </a:p>
          </p:txBody>
        </p:sp>
      </p:grpSp>
      <p:sp>
        <p:nvSpPr>
          <p:cNvPr id="22" name="TextBox 22"/>
          <p:cNvSpPr txBox="1"/>
          <p:nvPr/>
        </p:nvSpPr>
        <p:spPr>
          <a:xfrm>
            <a:off x="5181600" y="4457700"/>
            <a:ext cx="3733800" cy="4924425"/>
          </a:xfrm>
          <a:prstGeom prst="rect">
            <a:avLst/>
          </a:prstGeom>
        </p:spPr>
        <p:txBody>
          <a:bodyPr wrap="square" lIns="0" tIns="0" rIns="0" bIns="0" rtlCol="0" anchor="t">
            <a:spAutoFit/>
          </a:bodyPr>
          <a:lstStyle/>
          <a:p>
            <a:pPr>
              <a:spcBef>
                <a:spcPts val="600"/>
              </a:spcBef>
              <a:spcAft>
                <a:spcPts val="600"/>
              </a:spcAft>
              <a:buFont typeface="Arial" pitchFamily="34" charset="0"/>
              <a:buChar char="•"/>
            </a:pPr>
            <a:r>
              <a:rPr lang="en-US" sz="2800" dirty="0" smtClean="0">
                <a:latin typeface="Inter Light" charset="0"/>
                <a:ea typeface="Inter Light" charset="0"/>
              </a:rPr>
              <a:t> Monitor &amp; triage security alerts</a:t>
            </a:r>
          </a:p>
          <a:p>
            <a:pPr>
              <a:spcBef>
                <a:spcPts val="600"/>
              </a:spcBef>
              <a:spcAft>
                <a:spcPts val="600"/>
              </a:spcAft>
              <a:buFont typeface="Arial" pitchFamily="34" charset="0"/>
              <a:buChar char="•"/>
            </a:pPr>
            <a:r>
              <a:rPr lang="en-US" sz="2800" dirty="0" smtClean="0">
                <a:latin typeface="Inter Light" charset="0"/>
                <a:ea typeface="Inter Light" charset="0"/>
              </a:rPr>
              <a:t> Manage incident response &amp; SLAs</a:t>
            </a:r>
          </a:p>
          <a:p>
            <a:pPr>
              <a:spcBef>
                <a:spcPts val="600"/>
              </a:spcBef>
              <a:spcAft>
                <a:spcPts val="600"/>
              </a:spcAft>
              <a:buFont typeface="Arial" pitchFamily="34" charset="0"/>
              <a:buChar char="•"/>
            </a:pPr>
            <a:r>
              <a:rPr lang="en-US" sz="2800" dirty="0" smtClean="0">
                <a:latin typeface="Inter Light" charset="0"/>
                <a:ea typeface="Inter Light" charset="0"/>
              </a:rPr>
              <a:t> Trigger incident simulations</a:t>
            </a:r>
          </a:p>
          <a:p>
            <a:pPr>
              <a:spcBef>
                <a:spcPts val="600"/>
              </a:spcBef>
              <a:spcAft>
                <a:spcPts val="600"/>
              </a:spcAft>
              <a:buFont typeface="Arial" pitchFamily="34" charset="0"/>
              <a:buChar char="•"/>
            </a:pPr>
            <a:r>
              <a:rPr lang="en-US" sz="2800" dirty="0" smtClean="0">
                <a:latin typeface="Inter Light" charset="0"/>
                <a:ea typeface="Inter Light" charset="0"/>
              </a:rPr>
              <a:t> Scan &amp; track vulnerabilities</a:t>
            </a:r>
          </a:p>
          <a:p>
            <a:pPr>
              <a:spcBef>
                <a:spcPts val="600"/>
              </a:spcBef>
              <a:spcAft>
                <a:spcPts val="600"/>
              </a:spcAft>
              <a:buFont typeface="Arial" pitchFamily="34" charset="0"/>
              <a:buChar char="•"/>
            </a:pPr>
            <a:r>
              <a:rPr lang="en-US" sz="2800" dirty="0" smtClean="0">
                <a:latin typeface="Inter Light" charset="0"/>
                <a:ea typeface="Inter Light" charset="0"/>
              </a:rPr>
              <a:t> Export SOC &amp; compliance reports</a:t>
            </a:r>
          </a:p>
        </p:txBody>
      </p:sp>
      <p:grpSp>
        <p:nvGrpSpPr>
          <p:cNvPr id="27" name="Group 27"/>
          <p:cNvGrpSpPr/>
          <p:nvPr/>
        </p:nvGrpSpPr>
        <p:grpSpPr>
          <a:xfrm>
            <a:off x="9307130" y="3390900"/>
            <a:ext cx="4217274" cy="6543367"/>
            <a:chOff x="0" y="0"/>
            <a:chExt cx="1104068" cy="1482512"/>
          </a:xfrm>
        </p:grpSpPr>
        <p:sp>
          <p:nvSpPr>
            <p:cNvPr id="28" name="Freeform 28"/>
            <p:cNvSpPr/>
            <p:nvPr/>
          </p:nvSpPr>
          <p:spPr>
            <a:xfrm>
              <a:off x="0" y="0"/>
              <a:ext cx="1104068" cy="1482512"/>
            </a:xfrm>
            <a:custGeom>
              <a:avLst/>
              <a:gdLst/>
              <a:ahLst/>
              <a:cxnLst/>
              <a:rect l="l" t="t" r="r" b="b"/>
              <a:pathLst>
                <a:path w="1104068" h="1482512">
                  <a:moveTo>
                    <a:pt x="128503" y="0"/>
                  </a:moveTo>
                  <a:lnTo>
                    <a:pt x="975564" y="0"/>
                  </a:lnTo>
                  <a:cubicBezTo>
                    <a:pt x="1046535" y="0"/>
                    <a:pt x="1104068" y="57533"/>
                    <a:pt x="1104068" y="128503"/>
                  </a:cubicBezTo>
                  <a:lnTo>
                    <a:pt x="1104068" y="1354008"/>
                  </a:lnTo>
                  <a:cubicBezTo>
                    <a:pt x="1104068" y="1424979"/>
                    <a:pt x="1046535" y="1482512"/>
                    <a:pt x="975564" y="1482512"/>
                  </a:cubicBezTo>
                  <a:lnTo>
                    <a:pt x="128503" y="1482512"/>
                  </a:lnTo>
                  <a:cubicBezTo>
                    <a:pt x="57533" y="1482512"/>
                    <a:pt x="0" y="1424979"/>
                    <a:pt x="0" y="1354008"/>
                  </a:cubicBezTo>
                  <a:lnTo>
                    <a:pt x="0" y="128503"/>
                  </a:lnTo>
                  <a:cubicBezTo>
                    <a:pt x="0" y="57533"/>
                    <a:pt x="57533" y="0"/>
                    <a:pt x="128503" y="0"/>
                  </a:cubicBezTo>
                  <a:close/>
                </a:path>
              </a:pathLst>
            </a:custGeom>
            <a:gradFill rotWithShape="1">
              <a:gsLst>
                <a:gs pos="0">
                  <a:srgbClr val="57C7FF">
                    <a:alpha val="100000"/>
                  </a:srgbClr>
                </a:gs>
                <a:gs pos="100000">
                  <a:srgbClr val="89FFFE">
                    <a:alpha val="100000"/>
                  </a:srgbClr>
                </a:gs>
              </a:gsLst>
              <a:lin ang="5400000"/>
            </a:gradFill>
          </p:spPr>
        </p:sp>
        <p:sp>
          <p:nvSpPr>
            <p:cNvPr id="29" name="TextBox 29"/>
            <p:cNvSpPr txBox="1"/>
            <p:nvPr/>
          </p:nvSpPr>
          <p:spPr>
            <a:xfrm>
              <a:off x="0" y="-28575"/>
              <a:ext cx="1104068" cy="1511087"/>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9601200" y="4381500"/>
            <a:ext cx="3581400" cy="4924425"/>
          </a:xfrm>
          <a:prstGeom prst="rect">
            <a:avLst/>
          </a:prstGeom>
        </p:spPr>
        <p:txBody>
          <a:bodyPr wrap="square" lIns="0" tIns="0" rIns="0" bIns="0" rtlCol="0" anchor="t">
            <a:spAutoFit/>
          </a:bodyPr>
          <a:lstStyle/>
          <a:p>
            <a:pPr>
              <a:spcBef>
                <a:spcPts val="600"/>
              </a:spcBef>
              <a:spcAft>
                <a:spcPts val="600"/>
              </a:spcAft>
              <a:buFont typeface="Arial" pitchFamily="34" charset="0"/>
              <a:buChar char="•"/>
            </a:pPr>
            <a:r>
              <a:rPr lang="en-US" sz="2800" dirty="0" smtClean="0">
                <a:latin typeface="Inter Light" charset="0"/>
                <a:ea typeface="Inter Light" charset="0"/>
              </a:rPr>
              <a:t> Register &amp; inspect server assets</a:t>
            </a:r>
          </a:p>
          <a:p>
            <a:pPr>
              <a:spcBef>
                <a:spcPts val="600"/>
              </a:spcBef>
              <a:spcAft>
                <a:spcPts val="600"/>
              </a:spcAft>
              <a:buFont typeface="Arial" pitchFamily="34" charset="0"/>
              <a:buChar char="•"/>
            </a:pPr>
            <a:r>
              <a:rPr lang="en-US" sz="2800" dirty="0" smtClean="0">
                <a:latin typeface="Inter Light" charset="0"/>
                <a:ea typeface="Inter Light" charset="0"/>
              </a:rPr>
              <a:t> Monitor health &amp; telemetry data</a:t>
            </a:r>
          </a:p>
          <a:p>
            <a:pPr>
              <a:spcBef>
                <a:spcPts val="600"/>
              </a:spcBef>
              <a:spcAft>
                <a:spcPts val="600"/>
              </a:spcAft>
              <a:buFont typeface="Arial" pitchFamily="34" charset="0"/>
              <a:buChar char="•"/>
            </a:pPr>
            <a:r>
              <a:rPr lang="en-US" sz="2800" dirty="0" smtClean="0">
                <a:latin typeface="Inter Light" charset="0"/>
                <a:ea typeface="Inter Light" charset="0"/>
              </a:rPr>
              <a:t> Submit asset patch requests</a:t>
            </a:r>
          </a:p>
          <a:p>
            <a:pPr>
              <a:spcBef>
                <a:spcPts val="600"/>
              </a:spcBef>
              <a:spcAft>
                <a:spcPts val="600"/>
              </a:spcAft>
              <a:buFont typeface="Arial" pitchFamily="34" charset="0"/>
              <a:buChar char="•"/>
            </a:pPr>
            <a:r>
              <a:rPr lang="en-US" sz="2800" dirty="0" smtClean="0">
                <a:latin typeface="Inter Light" charset="0"/>
                <a:ea typeface="Inter Light" charset="0"/>
              </a:rPr>
              <a:t> Triage infrastructure alerts</a:t>
            </a:r>
          </a:p>
          <a:p>
            <a:pPr>
              <a:spcBef>
                <a:spcPts val="600"/>
              </a:spcBef>
              <a:spcAft>
                <a:spcPts val="600"/>
              </a:spcAft>
              <a:buFont typeface="Arial" pitchFamily="34" charset="0"/>
              <a:buChar char="•"/>
            </a:pPr>
            <a:r>
              <a:rPr lang="en-US" sz="2800" dirty="0" smtClean="0">
                <a:latin typeface="Inter Light" charset="0"/>
                <a:ea typeface="Inter Light" charset="0"/>
              </a:rPr>
              <a:t> Collaborate on security fixes</a:t>
            </a:r>
          </a:p>
        </p:txBody>
      </p:sp>
      <p:pic>
        <p:nvPicPr>
          <p:cNvPr id="35" name="Picture 34" descr="images-removebg-preview (4).png"/>
          <p:cNvPicPr>
            <a:picLocks noChangeAspect="1"/>
          </p:cNvPicPr>
          <p:nvPr/>
        </p:nvPicPr>
        <p:blipFill>
          <a:blip r:embed="rId4" cstate="print"/>
          <a:stretch>
            <a:fillRect/>
          </a:stretch>
        </p:blipFill>
        <p:spPr>
          <a:xfrm>
            <a:off x="1295400" y="1485900"/>
            <a:ext cx="2362200" cy="2362200"/>
          </a:xfrm>
          <a:prstGeom prst="rect">
            <a:avLst/>
          </a:prstGeom>
        </p:spPr>
      </p:pic>
      <p:pic>
        <p:nvPicPr>
          <p:cNvPr id="36" name="Picture 35" descr="image-removebg-preview (4).png"/>
          <p:cNvPicPr>
            <a:picLocks noChangeAspect="1"/>
          </p:cNvPicPr>
          <p:nvPr/>
        </p:nvPicPr>
        <p:blipFill>
          <a:blip r:embed="rId5" cstate="print"/>
          <a:stretch>
            <a:fillRect/>
          </a:stretch>
        </p:blipFill>
        <p:spPr>
          <a:xfrm>
            <a:off x="14782800" y="1485900"/>
            <a:ext cx="1791191" cy="2050847"/>
          </a:xfrm>
          <a:prstGeom prst="rect">
            <a:avLst/>
          </a:prstGeom>
        </p:spPr>
      </p:pic>
      <p:pic>
        <p:nvPicPr>
          <p:cNvPr id="38" name="Picture 37" descr="black-white-icon-user-profile-260nw-2751947783-removebg-preview.png"/>
          <p:cNvPicPr>
            <a:picLocks noChangeAspect="1"/>
          </p:cNvPicPr>
          <p:nvPr/>
        </p:nvPicPr>
        <p:blipFill>
          <a:blip r:embed="rId6" cstate="print"/>
          <a:srcRect b="7143"/>
          <a:stretch>
            <a:fillRect/>
          </a:stretch>
        </p:blipFill>
        <p:spPr>
          <a:xfrm>
            <a:off x="6400800" y="2019300"/>
            <a:ext cx="1447800" cy="1643791"/>
          </a:xfrm>
          <a:prstGeom prst="rect">
            <a:avLst/>
          </a:prstGeom>
        </p:spPr>
      </p:pic>
      <p:sp>
        <p:nvSpPr>
          <p:cNvPr id="39" name="TextBox 38"/>
          <p:cNvSpPr txBox="1"/>
          <p:nvPr/>
        </p:nvSpPr>
        <p:spPr>
          <a:xfrm>
            <a:off x="1219200" y="3619500"/>
            <a:ext cx="2667000" cy="584775"/>
          </a:xfrm>
          <a:prstGeom prst="rect">
            <a:avLst/>
          </a:prstGeom>
          <a:noFill/>
        </p:spPr>
        <p:txBody>
          <a:bodyPr wrap="square" rtlCol="0">
            <a:spAutoFit/>
          </a:bodyPr>
          <a:lstStyle/>
          <a:p>
            <a:r>
              <a:rPr lang="en-US" sz="3200" dirty="0" smtClean="0">
                <a:solidFill>
                  <a:srgbClr val="000000"/>
                </a:solidFill>
                <a:latin typeface="Inter Light"/>
                <a:ea typeface="Inter Light"/>
                <a:cs typeface="Inter Light"/>
                <a:sym typeface="Inter Light"/>
              </a:rPr>
              <a:t>Employee</a:t>
            </a:r>
            <a:endParaRPr lang="en-US" sz="3200" dirty="0"/>
          </a:p>
        </p:txBody>
      </p:sp>
      <p:sp>
        <p:nvSpPr>
          <p:cNvPr id="40" name="TextBox 39"/>
          <p:cNvSpPr txBox="1"/>
          <p:nvPr/>
        </p:nvSpPr>
        <p:spPr>
          <a:xfrm>
            <a:off x="5715000" y="3619500"/>
            <a:ext cx="4114800" cy="584775"/>
          </a:xfrm>
          <a:prstGeom prst="rect">
            <a:avLst/>
          </a:prstGeom>
          <a:noFill/>
        </p:spPr>
        <p:txBody>
          <a:bodyPr wrap="square" rtlCol="0">
            <a:spAutoFit/>
          </a:bodyPr>
          <a:lstStyle/>
          <a:p>
            <a:r>
              <a:rPr lang="en-US" sz="3200" dirty="0" smtClean="0">
                <a:solidFill>
                  <a:srgbClr val="000000"/>
                </a:solidFill>
                <a:latin typeface="Inter Light"/>
                <a:ea typeface="Inter Light"/>
                <a:cs typeface="Inter Light"/>
                <a:sym typeface="Inter Light"/>
              </a:rPr>
              <a:t>Security Analyst</a:t>
            </a:r>
            <a:endParaRPr lang="en-US" sz="3200" dirty="0"/>
          </a:p>
        </p:txBody>
      </p:sp>
      <p:sp>
        <p:nvSpPr>
          <p:cNvPr id="41" name="TextBox 40"/>
          <p:cNvSpPr txBox="1"/>
          <p:nvPr/>
        </p:nvSpPr>
        <p:spPr>
          <a:xfrm>
            <a:off x="9982200" y="3543300"/>
            <a:ext cx="3581400" cy="584775"/>
          </a:xfrm>
          <a:prstGeom prst="rect">
            <a:avLst/>
          </a:prstGeom>
          <a:noFill/>
        </p:spPr>
        <p:txBody>
          <a:bodyPr wrap="square" rtlCol="0">
            <a:spAutoFit/>
          </a:bodyPr>
          <a:lstStyle/>
          <a:p>
            <a:r>
              <a:rPr lang="en-US" sz="3200" dirty="0" smtClean="0">
                <a:solidFill>
                  <a:srgbClr val="000000"/>
                </a:solidFill>
                <a:latin typeface="Inter Light"/>
                <a:ea typeface="Inter Light"/>
                <a:cs typeface="Inter Light"/>
                <a:sym typeface="Inter Light"/>
              </a:rPr>
              <a:t>DevOps Engineer</a:t>
            </a:r>
            <a:endParaRPr lang="en-US" sz="3200" dirty="0"/>
          </a:p>
        </p:txBody>
      </p:sp>
      <p:sp>
        <p:nvSpPr>
          <p:cNvPr id="43" name="TextBox 42"/>
          <p:cNvSpPr txBox="1"/>
          <p:nvPr/>
        </p:nvSpPr>
        <p:spPr>
          <a:xfrm>
            <a:off x="14630400" y="3543300"/>
            <a:ext cx="2667000" cy="584775"/>
          </a:xfrm>
          <a:prstGeom prst="rect">
            <a:avLst/>
          </a:prstGeom>
          <a:noFill/>
        </p:spPr>
        <p:txBody>
          <a:bodyPr wrap="square" rtlCol="0">
            <a:spAutoFit/>
          </a:bodyPr>
          <a:lstStyle/>
          <a:p>
            <a:r>
              <a:rPr lang="en-US" sz="3200" dirty="0" smtClean="0">
                <a:solidFill>
                  <a:srgbClr val="000000"/>
                </a:solidFill>
                <a:latin typeface="Inter Light"/>
                <a:ea typeface="Inter Light"/>
                <a:cs typeface="Inter Light"/>
                <a:sym typeface="Inter Light"/>
              </a:rPr>
              <a:t>Admin</a:t>
            </a:r>
            <a:endParaRPr lang="en-US" sz="3200" dirty="0"/>
          </a:p>
        </p:txBody>
      </p:sp>
      <p:grpSp>
        <p:nvGrpSpPr>
          <p:cNvPr id="46" name="Group 7"/>
          <p:cNvGrpSpPr/>
          <p:nvPr/>
        </p:nvGrpSpPr>
        <p:grpSpPr>
          <a:xfrm>
            <a:off x="5105400" y="3619500"/>
            <a:ext cx="609600" cy="533400"/>
            <a:chOff x="0" y="0"/>
            <a:chExt cx="812800" cy="812800"/>
          </a:xfrm>
        </p:grpSpPr>
        <p:sp>
          <p:nvSpPr>
            <p:cNvPr id="47"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ysDot"/>
              <a:miter/>
            </a:ln>
          </p:spPr>
        </p:sp>
        <p:sp>
          <p:nvSpPr>
            <p:cNvPr id="48" name="TextBox 9"/>
            <p:cNvSpPr txBox="1"/>
            <p:nvPr/>
          </p:nvSpPr>
          <p:spPr>
            <a:xfrm>
              <a:off x="76200" y="19050"/>
              <a:ext cx="660400" cy="717550"/>
            </a:xfrm>
            <a:prstGeom prst="rect">
              <a:avLst/>
            </a:prstGeom>
          </p:spPr>
          <p:txBody>
            <a:bodyPr lIns="50800" tIns="50800" rIns="50800" bIns="50800" rtlCol="0" anchor="ctr"/>
            <a:lstStyle/>
            <a:p>
              <a:pPr algn="ctr">
                <a:lnSpc>
                  <a:spcPts val="3150"/>
                </a:lnSpc>
              </a:pPr>
              <a:endParaRPr/>
            </a:p>
          </p:txBody>
        </p:sp>
      </p:grpSp>
      <p:sp>
        <p:nvSpPr>
          <p:cNvPr id="49" name="TextBox 10"/>
          <p:cNvSpPr txBox="1"/>
          <p:nvPr/>
        </p:nvSpPr>
        <p:spPr>
          <a:xfrm>
            <a:off x="5105400" y="3619500"/>
            <a:ext cx="609600" cy="487313"/>
          </a:xfrm>
          <a:prstGeom prst="rect">
            <a:avLst/>
          </a:prstGeom>
        </p:spPr>
        <p:txBody>
          <a:bodyPr wrap="square" lIns="0" tIns="0" rIns="0" bIns="0" rtlCol="0" anchor="t">
            <a:spAutoFit/>
          </a:bodyPr>
          <a:lstStyle/>
          <a:p>
            <a:pPr marL="0" lvl="0" indent="0" algn="ctr">
              <a:lnSpc>
                <a:spcPts val="3840"/>
              </a:lnSpc>
            </a:pPr>
            <a:r>
              <a:rPr lang="en-US" sz="2400" dirty="0" smtClean="0">
                <a:solidFill>
                  <a:srgbClr val="000000"/>
                </a:solidFill>
                <a:latin typeface="Inter"/>
                <a:ea typeface="Inter"/>
                <a:cs typeface="Inter"/>
                <a:sym typeface="Inter"/>
              </a:rPr>
              <a:t>2</a:t>
            </a:r>
            <a:endParaRPr lang="en-US" sz="2400" dirty="0">
              <a:solidFill>
                <a:srgbClr val="000000"/>
              </a:solidFill>
              <a:latin typeface="Inter"/>
              <a:ea typeface="Inter"/>
              <a:cs typeface="Inter"/>
              <a:sym typeface="Inter"/>
            </a:endParaRPr>
          </a:p>
        </p:txBody>
      </p:sp>
      <p:grpSp>
        <p:nvGrpSpPr>
          <p:cNvPr id="61" name="Group 7"/>
          <p:cNvGrpSpPr/>
          <p:nvPr/>
        </p:nvGrpSpPr>
        <p:grpSpPr>
          <a:xfrm>
            <a:off x="609600" y="3619500"/>
            <a:ext cx="609600" cy="533400"/>
            <a:chOff x="0" y="0"/>
            <a:chExt cx="812800" cy="812800"/>
          </a:xfrm>
        </p:grpSpPr>
        <p:sp>
          <p:nvSpPr>
            <p:cNvPr id="62"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ysDot"/>
              <a:miter/>
            </a:ln>
          </p:spPr>
        </p:sp>
        <p:sp>
          <p:nvSpPr>
            <p:cNvPr id="63" name="TextBox 9"/>
            <p:cNvSpPr txBox="1"/>
            <p:nvPr/>
          </p:nvSpPr>
          <p:spPr>
            <a:xfrm>
              <a:off x="76200" y="19050"/>
              <a:ext cx="660400" cy="717550"/>
            </a:xfrm>
            <a:prstGeom prst="rect">
              <a:avLst/>
            </a:prstGeom>
          </p:spPr>
          <p:txBody>
            <a:bodyPr lIns="50800" tIns="50800" rIns="50800" bIns="50800" rtlCol="0" anchor="ctr"/>
            <a:lstStyle/>
            <a:p>
              <a:pPr algn="ctr">
                <a:lnSpc>
                  <a:spcPts val="3150"/>
                </a:lnSpc>
              </a:pPr>
              <a:endParaRPr/>
            </a:p>
          </p:txBody>
        </p:sp>
      </p:grpSp>
      <p:sp>
        <p:nvSpPr>
          <p:cNvPr id="64" name="TextBox 10"/>
          <p:cNvSpPr txBox="1"/>
          <p:nvPr/>
        </p:nvSpPr>
        <p:spPr>
          <a:xfrm>
            <a:off x="609600" y="3619500"/>
            <a:ext cx="609600" cy="439095"/>
          </a:xfrm>
          <a:prstGeom prst="rect">
            <a:avLst/>
          </a:prstGeom>
        </p:spPr>
        <p:txBody>
          <a:bodyPr wrap="square" lIns="0" tIns="0" rIns="0" bIns="0" rtlCol="0" anchor="t">
            <a:spAutoFit/>
          </a:bodyPr>
          <a:lstStyle/>
          <a:p>
            <a:pPr marL="0" lvl="0" indent="0" algn="ctr">
              <a:lnSpc>
                <a:spcPts val="3840"/>
              </a:lnSpc>
            </a:pPr>
            <a:r>
              <a:rPr lang="en-US" sz="2400" dirty="0" smtClean="0">
                <a:solidFill>
                  <a:srgbClr val="000000"/>
                </a:solidFill>
                <a:latin typeface="Inter"/>
                <a:ea typeface="Inter"/>
                <a:cs typeface="Inter"/>
                <a:sym typeface="Inter"/>
              </a:rPr>
              <a:t>1</a:t>
            </a:r>
            <a:endParaRPr lang="en-US" sz="2400" dirty="0">
              <a:solidFill>
                <a:srgbClr val="000000"/>
              </a:solidFill>
              <a:latin typeface="Inter"/>
              <a:ea typeface="Inter"/>
              <a:cs typeface="Inter"/>
              <a:sym typeface="Inter"/>
            </a:endParaRPr>
          </a:p>
        </p:txBody>
      </p:sp>
      <p:grpSp>
        <p:nvGrpSpPr>
          <p:cNvPr id="65" name="Group 7"/>
          <p:cNvGrpSpPr/>
          <p:nvPr/>
        </p:nvGrpSpPr>
        <p:grpSpPr>
          <a:xfrm>
            <a:off x="9448800" y="3543300"/>
            <a:ext cx="609600" cy="533400"/>
            <a:chOff x="0" y="0"/>
            <a:chExt cx="812800" cy="812800"/>
          </a:xfrm>
        </p:grpSpPr>
        <p:sp>
          <p:nvSpPr>
            <p:cNvPr id="66"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ysDot"/>
              <a:miter/>
            </a:ln>
          </p:spPr>
        </p:sp>
        <p:sp>
          <p:nvSpPr>
            <p:cNvPr id="67" name="TextBox 9"/>
            <p:cNvSpPr txBox="1"/>
            <p:nvPr/>
          </p:nvSpPr>
          <p:spPr>
            <a:xfrm>
              <a:off x="76200" y="19050"/>
              <a:ext cx="660400" cy="717550"/>
            </a:xfrm>
            <a:prstGeom prst="rect">
              <a:avLst/>
            </a:prstGeom>
          </p:spPr>
          <p:txBody>
            <a:bodyPr lIns="50800" tIns="50800" rIns="50800" bIns="50800" rtlCol="0" anchor="ctr"/>
            <a:lstStyle/>
            <a:p>
              <a:pPr algn="ctr">
                <a:lnSpc>
                  <a:spcPts val="3150"/>
                </a:lnSpc>
              </a:pPr>
              <a:endParaRPr/>
            </a:p>
          </p:txBody>
        </p:sp>
      </p:grpSp>
      <p:sp>
        <p:nvSpPr>
          <p:cNvPr id="68" name="TextBox 10"/>
          <p:cNvSpPr txBox="1"/>
          <p:nvPr/>
        </p:nvSpPr>
        <p:spPr>
          <a:xfrm>
            <a:off x="9448800" y="3543300"/>
            <a:ext cx="609600" cy="439095"/>
          </a:xfrm>
          <a:prstGeom prst="rect">
            <a:avLst/>
          </a:prstGeom>
        </p:spPr>
        <p:txBody>
          <a:bodyPr wrap="square" lIns="0" tIns="0" rIns="0" bIns="0" rtlCol="0" anchor="t">
            <a:spAutoFit/>
          </a:bodyPr>
          <a:lstStyle/>
          <a:p>
            <a:pPr marL="0" lvl="0" indent="0" algn="ctr">
              <a:lnSpc>
                <a:spcPts val="3840"/>
              </a:lnSpc>
            </a:pPr>
            <a:r>
              <a:rPr lang="en-US" sz="2400" dirty="0" smtClean="0">
                <a:solidFill>
                  <a:srgbClr val="000000"/>
                </a:solidFill>
                <a:latin typeface="Inter"/>
                <a:ea typeface="Inter"/>
                <a:cs typeface="Inter"/>
                <a:sym typeface="Inter"/>
              </a:rPr>
              <a:t>3</a:t>
            </a:r>
            <a:endParaRPr lang="en-US" sz="2400" dirty="0">
              <a:solidFill>
                <a:srgbClr val="000000"/>
              </a:solidFill>
              <a:latin typeface="Inter"/>
              <a:ea typeface="Inter"/>
              <a:cs typeface="Inter"/>
              <a:sym typeface="Inter"/>
            </a:endParaRPr>
          </a:p>
        </p:txBody>
      </p:sp>
      <p:grpSp>
        <p:nvGrpSpPr>
          <p:cNvPr id="69" name="Group 7"/>
          <p:cNvGrpSpPr/>
          <p:nvPr/>
        </p:nvGrpSpPr>
        <p:grpSpPr>
          <a:xfrm>
            <a:off x="13944600" y="3543300"/>
            <a:ext cx="609600" cy="533400"/>
            <a:chOff x="0" y="0"/>
            <a:chExt cx="812800" cy="812800"/>
          </a:xfrm>
        </p:grpSpPr>
        <p:sp>
          <p:nvSpPr>
            <p:cNvPr id="70"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ysDot"/>
              <a:miter/>
            </a:ln>
          </p:spPr>
        </p:sp>
        <p:sp>
          <p:nvSpPr>
            <p:cNvPr id="71" name="TextBox 9"/>
            <p:cNvSpPr txBox="1"/>
            <p:nvPr/>
          </p:nvSpPr>
          <p:spPr>
            <a:xfrm>
              <a:off x="76200" y="19050"/>
              <a:ext cx="660400" cy="717550"/>
            </a:xfrm>
            <a:prstGeom prst="rect">
              <a:avLst/>
            </a:prstGeom>
          </p:spPr>
          <p:txBody>
            <a:bodyPr lIns="50800" tIns="50800" rIns="50800" bIns="50800" rtlCol="0" anchor="ctr"/>
            <a:lstStyle/>
            <a:p>
              <a:pPr algn="ctr">
                <a:lnSpc>
                  <a:spcPts val="3150"/>
                </a:lnSpc>
              </a:pPr>
              <a:endParaRPr/>
            </a:p>
          </p:txBody>
        </p:sp>
      </p:grpSp>
      <p:sp>
        <p:nvSpPr>
          <p:cNvPr id="72" name="TextBox 10"/>
          <p:cNvSpPr txBox="1"/>
          <p:nvPr/>
        </p:nvSpPr>
        <p:spPr>
          <a:xfrm>
            <a:off x="13944600" y="3543300"/>
            <a:ext cx="609600" cy="439095"/>
          </a:xfrm>
          <a:prstGeom prst="rect">
            <a:avLst/>
          </a:prstGeom>
        </p:spPr>
        <p:txBody>
          <a:bodyPr wrap="square" lIns="0" tIns="0" rIns="0" bIns="0" rtlCol="0" anchor="t">
            <a:spAutoFit/>
          </a:bodyPr>
          <a:lstStyle/>
          <a:p>
            <a:pPr marL="0" lvl="0" indent="0" algn="ctr">
              <a:lnSpc>
                <a:spcPts val="3840"/>
              </a:lnSpc>
            </a:pPr>
            <a:r>
              <a:rPr lang="en-US" sz="2400" dirty="0" smtClean="0">
                <a:solidFill>
                  <a:srgbClr val="000000"/>
                </a:solidFill>
                <a:latin typeface="Inter"/>
                <a:ea typeface="Inter"/>
                <a:cs typeface="Inter"/>
                <a:sym typeface="Inter"/>
              </a:rPr>
              <a:t>4</a:t>
            </a:r>
            <a:endParaRPr lang="en-US" sz="2400" dirty="0">
              <a:solidFill>
                <a:srgbClr val="000000"/>
              </a:solidFill>
              <a:latin typeface="Inter"/>
              <a:ea typeface="Inter"/>
              <a:cs typeface="Inter"/>
              <a:sym typeface="Inter"/>
            </a:endParaRPr>
          </a:p>
        </p:txBody>
      </p:sp>
      <p:sp>
        <p:nvSpPr>
          <p:cNvPr id="73" name="AutoShape 9"/>
          <p:cNvSpPr/>
          <p:nvPr/>
        </p:nvSpPr>
        <p:spPr>
          <a:xfrm>
            <a:off x="609600" y="1409700"/>
            <a:ext cx="12877800" cy="0"/>
          </a:xfrm>
          <a:prstGeom prst="line">
            <a:avLst/>
          </a:prstGeom>
          <a:ln w="19050" cap="flat">
            <a:solidFill>
              <a:srgbClr val="000000"/>
            </a:solidFill>
            <a:prstDash val="solid"/>
            <a:headEnd type="none" w="sm" len="sm"/>
            <a:tailEnd type="none" w="sm" len="sm"/>
          </a:ln>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grpSp>
        <p:nvGrpSpPr>
          <p:cNvPr id="3" name="Group 2"/>
          <p:cNvGrpSpPr/>
          <p:nvPr/>
        </p:nvGrpSpPr>
        <p:grpSpPr>
          <a:xfrm rot="768975">
            <a:off x="-2027191" y="1820494"/>
            <a:ext cx="21727898" cy="6650541"/>
            <a:chOff x="-2677" y="338271"/>
            <a:chExt cx="8046755" cy="11108935"/>
          </a:xfrm>
        </p:grpSpPr>
        <p:sp>
          <p:nvSpPr>
            <p:cNvPr id="9" name="Freeform 3"/>
            <p:cNvSpPr/>
            <p:nvPr/>
          </p:nvSpPr>
          <p:spPr>
            <a:xfrm>
              <a:off x="-2677" y="498168"/>
              <a:ext cx="8023668" cy="10949038"/>
            </a:xfrm>
            <a:custGeom>
              <a:avLst/>
              <a:gdLst/>
              <a:ahLst/>
              <a:cxnLst/>
              <a:rect l="l" t="t" r="r" b="b"/>
              <a:pathLst>
                <a:path w="8023668" h="10436601">
                  <a:moveTo>
                    <a:pt x="73616" y="0"/>
                  </a:moveTo>
                  <a:lnTo>
                    <a:pt x="7950052" y="0"/>
                  </a:lnTo>
                  <a:cubicBezTo>
                    <a:pt x="7969576" y="0"/>
                    <a:pt x="7988301" y="7756"/>
                    <a:pt x="8002107" y="21562"/>
                  </a:cubicBezTo>
                  <a:cubicBezTo>
                    <a:pt x="8015912" y="35367"/>
                    <a:pt x="8023668" y="54092"/>
                    <a:pt x="8023668" y="73616"/>
                  </a:cubicBezTo>
                  <a:lnTo>
                    <a:pt x="8023668" y="10362985"/>
                  </a:lnTo>
                  <a:cubicBezTo>
                    <a:pt x="8023668" y="10382509"/>
                    <a:pt x="8015912" y="10401233"/>
                    <a:pt x="8002107" y="10415039"/>
                  </a:cubicBezTo>
                  <a:cubicBezTo>
                    <a:pt x="7988301" y="10428845"/>
                    <a:pt x="7969576" y="10436601"/>
                    <a:pt x="7950052" y="10436601"/>
                  </a:cubicBezTo>
                  <a:lnTo>
                    <a:pt x="73616" y="10436601"/>
                  </a:lnTo>
                  <a:cubicBezTo>
                    <a:pt x="54092" y="10436601"/>
                    <a:pt x="35367" y="10428845"/>
                    <a:pt x="21562" y="10415039"/>
                  </a:cubicBezTo>
                  <a:cubicBezTo>
                    <a:pt x="7756" y="10401233"/>
                    <a:pt x="0" y="10382509"/>
                    <a:pt x="0" y="10362985"/>
                  </a:cubicBezTo>
                  <a:lnTo>
                    <a:pt x="0" y="73616"/>
                  </a:lnTo>
                  <a:cubicBezTo>
                    <a:pt x="0" y="54092"/>
                    <a:pt x="7756" y="35367"/>
                    <a:pt x="21562" y="21562"/>
                  </a:cubicBezTo>
                  <a:cubicBezTo>
                    <a:pt x="35367" y="7756"/>
                    <a:pt x="54092" y="0"/>
                    <a:pt x="73616" y="0"/>
                  </a:cubicBezTo>
                  <a:close/>
                </a:path>
              </a:pathLst>
            </a:custGeom>
            <a:gradFill rotWithShape="1">
              <a:gsLst>
                <a:gs pos="0">
                  <a:srgbClr val="89FFFE">
                    <a:alpha val="100000"/>
                  </a:srgbClr>
                </a:gs>
                <a:gs pos="100000">
                  <a:srgbClr val="57C7FF">
                    <a:alpha val="100000"/>
                  </a:srgbClr>
                </a:gs>
              </a:gsLst>
              <a:path path="circle">
                <a:fillToRect l="50000" t="50000" r="50000" b="50000"/>
              </a:path>
            </a:gradFill>
          </p:spPr>
        </p:sp>
        <p:sp>
          <p:nvSpPr>
            <p:cNvPr id="10" name="TextBox 4"/>
            <p:cNvSpPr txBox="1"/>
            <p:nvPr/>
          </p:nvSpPr>
          <p:spPr>
            <a:xfrm>
              <a:off x="20409" y="338271"/>
              <a:ext cx="8023669" cy="10493751"/>
            </a:xfrm>
            <a:prstGeom prst="rect">
              <a:avLst/>
            </a:prstGeom>
          </p:spPr>
          <p:txBody>
            <a:bodyPr lIns="50800" tIns="50800" rIns="50800" bIns="50800" rtlCol="0" anchor="ctr"/>
            <a:lstStyle/>
            <a:p>
              <a:pPr algn="ctr">
                <a:lnSpc>
                  <a:spcPts val="3150"/>
                </a:lnSpc>
              </a:pPr>
              <a:endParaRPr/>
            </a:p>
          </p:txBody>
        </p:sp>
      </p:grpSp>
      <p:sp>
        <p:nvSpPr>
          <p:cNvPr id="18" name="TextBox 11"/>
          <p:cNvSpPr txBox="1"/>
          <p:nvPr/>
        </p:nvSpPr>
        <p:spPr>
          <a:xfrm>
            <a:off x="381000" y="3695700"/>
            <a:ext cx="17373600" cy="2954655"/>
          </a:xfrm>
          <a:prstGeom prst="rect">
            <a:avLst/>
          </a:prstGeom>
        </p:spPr>
        <p:txBody>
          <a:bodyPr wrap="square" lIns="0" tIns="0" rIns="0" bIns="0" rtlCol="0" anchor="t">
            <a:spAutoFit/>
          </a:bodyPr>
          <a:lstStyle/>
          <a:p>
            <a:pPr lvl="0" algn="ctr"/>
            <a:r>
              <a:rPr lang="en-US" sz="9600" b="1" dirty="0" smtClean="0">
                <a:solidFill>
                  <a:srgbClr val="000000"/>
                </a:solidFill>
                <a:latin typeface="Inter Bold" charset="0"/>
                <a:ea typeface="Inter Bold" charset="0"/>
                <a:cs typeface="Inter Light"/>
                <a:sym typeface="Inter Light"/>
              </a:rPr>
              <a:t>Project Milestones &amp; App Showcase</a:t>
            </a:r>
            <a:endParaRPr lang="en-US" sz="9600" b="1" dirty="0">
              <a:solidFill>
                <a:srgbClr val="000000"/>
              </a:solidFill>
              <a:latin typeface="Inter Bold" charset="0"/>
              <a:ea typeface="Inter Bold" charset="0"/>
              <a:cs typeface="Inter Light"/>
              <a:sym typeface="Inter Light"/>
            </a:endParaRPr>
          </a:p>
        </p:txBody>
      </p:sp>
      <p:sp>
        <p:nvSpPr>
          <p:cNvPr id="17" name="AutoShape 9"/>
          <p:cNvSpPr/>
          <p:nvPr/>
        </p:nvSpPr>
        <p:spPr>
          <a:xfrm>
            <a:off x="3733800" y="6591300"/>
            <a:ext cx="10820400" cy="0"/>
          </a:xfrm>
          <a:prstGeom prst="line">
            <a:avLst/>
          </a:prstGeom>
          <a:ln w="19050" cap="flat">
            <a:solidFill>
              <a:srgbClr val="000000"/>
            </a:solidFill>
            <a:prstDash val="solid"/>
            <a:headEnd type="none" w="sm" len="sm"/>
            <a:tailEnd type="none" w="sm" len="sm"/>
          </a:ln>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algn="ctr"/>
            <a:r>
              <a:rPr lang="en-US" sz="5400" b="1" dirty="0" smtClean="0">
                <a:solidFill>
                  <a:srgbClr val="000000"/>
                </a:solidFill>
                <a:latin typeface="Inter Bold" charset="0"/>
                <a:ea typeface="Inter Bold" charset="0"/>
                <a:cs typeface="Inter Light"/>
                <a:sym typeface="Inter Light"/>
              </a:rPr>
              <a:t>Landing Page &amp; Authentication View</a:t>
            </a:r>
            <a:endParaRPr lang="en-US" sz="5400" b="1" dirty="0">
              <a:solidFill>
                <a:srgbClr val="000000"/>
              </a:solidFill>
              <a:latin typeface="Inter Bold" charset="0"/>
              <a:ea typeface="Inter Bold" charset="0"/>
              <a:cs typeface="Inter Light"/>
              <a:sym typeface="Inter Light"/>
            </a:endParaRPr>
          </a:p>
        </p:txBody>
      </p:sp>
      <p:pic>
        <p:nvPicPr>
          <p:cNvPr id="21" name="Picture 20" descr="Screenshot (442).png"/>
          <p:cNvPicPr>
            <a:picLocks noChangeAspect="1"/>
          </p:cNvPicPr>
          <p:nvPr/>
        </p:nvPicPr>
        <p:blipFill>
          <a:blip r:embed="rId2" cstate="print"/>
          <a:stretch>
            <a:fillRect/>
          </a:stretch>
        </p:blipFill>
        <p:spPr>
          <a:xfrm>
            <a:off x="533401" y="1638300"/>
            <a:ext cx="13258800" cy="8458200"/>
          </a:xfrm>
          <a:prstGeom prst="rect">
            <a:avLst/>
          </a:prstGeom>
        </p:spPr>
      </p:pic>
      <p:pic>
        <p:nvPicPr>
          <p:cNvPr id="22" name="Picture 21" descr="Screenshot (443).png"/>
          <p:cNvPicPr>
            <a:picLocks noChangeAspect="1"/>
          </p:cNvPicPr>
          <p:nvPr/>
        </p:nvPicPr>
        <p:blipFill>
          <a:blip r:embed="rId3" cstate="print"/>
          <a:srcRect l="33942" t="17462" r="33374" b="19255"/>
          <a:stretch>
            <a:fillRect/>
          </a:stretch>
        </p:blipFill>
        <p:spPr>
          <a:xfrm>
            <a:off x="14020800" y="1638300"/>
            <a:ext cx="3886200" cy="4232564"/>
          </a:xfrm>
          <a:prstGeom prst="rect">
            <a:avLst/>
          </a:prstGeom>
        </p:spPr>
      </p:pic>
      <p:pic>
        <p:nvPicPr>
          <p:cNvPr id="23" name="Picture 22" descr="Screenshot (444).png"/>
          <p:cNvPicPr>
            <a:picLocks noChangeAspect="1"/>
          </p:cNvPicPr>
          <p:nvPr/>
        </p:nvPicPr>
        <p:blipFill>
          <a:blip r:embed="rId4" cstate="print"/>
          <a:srcRect l="33326" t="17505" r="33349" b="16518"/>
          <a:stretch>
            <a:fillRect/>
          </a:stretch>
        </p:blipFill>
        <p:spPr>
          <a:xfrm>
            <a:off x="14020800" y="5753100"/>
            <a:ext cx="3886200" cy="432781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Milestone 1</a:t>
            </a:r>
            <a:endParaRPr lang="en-US" sz="5400" b="1" dirty="0">
              <a:solidFill>
                <a:srgbClr val="000000"/>
              </a:solidFill>
              <a:latin typeface="Inter Bold" charset="0"/>
              <a:ea typeface="Inter Bold" charset="0"/>
              <a:cs typeface="Inter Light"/>
              <a:sym typeface="Inter Light"/>
            </a:endParaRPr>
          </a:p>
        </p:txBody>
      </p:sp>
      <p:pic>
        <p:nvPicPr>
          <p:cNvPr id="8" name="Picture 7" descr="Screenshot (447).png"/>
          <p:cNvPicPr>
            <a:picLocks noChangeAspect="1"/>
          </p:cNvPicPr>
          <p:nvPr/>
        </p:nvPicPr>
        <p:blipFill>
          <a:blip r:embed="rId2" cstate="print"/>
          <a:stretch>
            <a:fillRect/>
          </a:stretch>
        </p:blipFill>
        <p:spPr>
          <a:xfrm>
            <a:off x="2362200" y="2705100"/>
            <a:ext cx="13487400" cy="7391400"/>
          </a:xfrm>
          <a:prstGeom prst="rect">
            <a:avLst/>
          </a:prstGeom>
        </p:spPr>
      </p:pic>
      <p:sp>
        <p:nvSpPr>
          <p:cNvPr id="10" name="TextBox 9"/>
          <p:cNvSpPr txBox="1"/>
          <p:nvPr/>
        </p:nvSpPr>
        <p:spPr>
          <a:xfrm>
            <a:off x="381000" y="1257300"/>
            <a:ext cx="17678400" cy="1384995"/>
          </a:xfrm>
          <a:prstGeom prst="rect">
            <a:avLst/>
          </a:prstGeom>
          <a:noFill/>
        </p:spPr>
        <p:txBody>
          <a:bodyPr wrap="square" rtlCol="0">
            <a:spAutoFit/>
          </a:bodyPr>
          <a:lstStyle/>
          <a:p>
            <a:pPr>
              <a:buFont typeface="Arial" pitchFamily="34" charset="0"/>
              <a:buChar char="•"/>
            </a:pPr>
            <a:r>
              <a:rPr lang="en-US" sz="2800" dirty="0" smtClean="0">
                <a:solidFill>
                  <a:srgbClr val="000000"/>
                </a:solidFill>
                <a:latin typeface="Inter Light"/>
                <a:ea typeface="Inter Light"/>
                <a:cs typeface="Inter Light"/>
                <a:sym typeface="Inter Light"/>
              </a:rPr>
              <a:t> Implements secure asset CRUD operations using RBAC to enforce strict role-based permissions</a:t>
            </a:r>
            <a:r>
              <a:rPr lang="en-US" sz="2800" dirty="0" smtClean="0">
                <a:sym typeface="Inter Light"/>
              </a:rPr>
              <a:t>.</a:t>
            </a:r>
            <a:r>
              <a:rPr lang="en-US" sz="2800" dirty="0" smtClean="0">
                <a:solidFill>
                  <a:srgbClr val="000000"/>
                </a:solidFill>
                <a:latin typeface="Inter Light"/>
                <a:ea typeface="Inter Light"/>
                <a:cs typeface="Inter Light"/>
                <a:sym typeface="Inter Light"/>
              </a:rPr>
              <a:t> Continuously monitors real-time telemetry for servers and clouds, specifically tracking CPU, memory, disk, and network usage.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Milestone 1</a:t>
            </a:r>
            <a:endParaRPr lang="en-US" sz="5400" b="1" dirty="0">
              <a:solidFill>
                <a:srgbClr val="000000"/>
              </a:solidFill>
              <a:latin typeface="Inter Bold" charset="0"/>
              <a:ea typeface="Inter Bold" charset="0"/>
              <a:cs typeface="Inter Light"/>
              <a:sym typeface="Inter Light"/>
            </a:endParaRPr>
          </a:p>
        </p:txBody>
      </p:sp>
      <p:pic>
        <p:nvPicPr>
          <p:cNvPr id="9" name="Picture 8" descr="Screenshot (448).png"/>
          <p:cNvPicPr>
            <a:picLocks noChangeAspect="1"/>
          </p:cNvPicPr>
          <p:nvPr/>
        </p:nvPicPr>
        <p:blipFill>
          <a:blip r:embed="rId2" cstate="print"/>
          <a:stretch>
            <a:fillRect/>
          </a:stretch>
        </p:blipFill>
        <p:spPr>
          <a:xfrm>
            <a:off x="2362200" y="2705100"/>
            <a:ext cx="13487400" cy="7391400"/>
          </a:xfrm>
          <a:prstGeom prst="rect">
            <a:avLst/>
          </a:prstGeom>
        </p:spPr>
      </p:pic>
      <p:sp>
        <p:nvSpPr>
          <p:cNvPr id="11" name="TextBox 10"/>
          <p:cNvSpPr txBox="1"/>
          <p:nvPr/>
        </p:nvSpPr>
        <p:spPr>
          <a:xfrm>
            <a:off x="228600" y="1257300"/>
            <a:ext cx="17830800" cy="1384995"/>
          </a:xfrm>
          <a:prstGeom prst="rect">
            <a:avLst/>
          </a:prstGeom>
          <a:noFill/>
        </p:spPr>
        <p:txBody>
          <a:bodyPr wrap="square" rtlCol="0">
            <a:spAutoFit/>
          </a:bodyPr>
          <a:lstStyle/>
          <a:p>
            <a:pPr>
              <a:buFont typeface="Arial" pitchFamily="34" charset="0"/>
              <a:buChar char="•"/>
            </a:pPr>
            <a:r>
              <a:rPr lang="en-US" sz="2800" dirty="0" smtClean="0">
                <a:solidFill>
                  <a:srgbClr val="000000"/>
                </a:solidFill>
                <a:latin typeface="Inter Light"/>
                <a:ea typeface="Inter Light"/>
                <a:cs typeface="Inter Light"/>
                <a:sym typeface="Inter Light"/>
              </a:rPr>
              <a:t> Automatically detects metric violations to generate instant alerts and trigger automated remediation like auto-scaling. </a:t>
            </a:r>
          </a:p>
          <a:p>
            <a:pPr>
              <a:buFont typeface="Arial" pitchFamily="34" charset="0"/>
              <a:buChar char="•"/>
            </a:pPr>
            <a:r>
              <a:rPr lang="en-US" sz="2800" dirty="0" smtClean="0">
                <a:solidFill>
                  <a:srgbClr val="000000"/>
                </a:solidFill>
                <a:latin typeface="Inter Light"/>
                <a:ea typeface="Inter Light"/>
                <a:cs typeface="Inter Light"/>
                <a:sym typeface="Inter Light"/>
              </a:rPr>
              <a:t> Displays active infrastructure alerts with detailed metric violations, severity &amp; classifications.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Milestone 2</a:t>
            </a:r>
            <a:endParaRPr lang="en-US" sz="5400" b="1" dirty="0">
              <a:solidFill>
                <a:srgbClr val="000000"/>
              </a:solidFill>
              <a:latin typeface="Inter Bold" charset="0"/>
              <a:ea typeface="Inter Bold" charset="0"/>
              <a:cs typeface="Inter Light"/>
              <a:sym typeface="Inter Light"/>
            </a:endParaRPr>
          </a:p>
        </p:txBody>
      </p:sp>
      <p:pic>
        <p:nvPicPr>
          <p:cNvPr id="8" name="Picture 7" descr="Screenshot (449).png"/>
          <p:cNvPicPr>
            <a:picLocks noChangeAspect="1"/>
          </p:cNvPicPr>
          <p:nvPr/>
        </p:nvPicPr>
        <p:blipFill>
          <a:blip r:embed="rId2" cstate="print"/>
          <a:stretch>
            <a:fillRect/>
          </a:stretch>
        </p:blipFill>
        <p:spPr>
          <a:xfrm>
            <a:off x="2286000" y="2476500"/>
            <a:ext cx="13716000" cy="7543800"/>
          </a:xfrm>
          <a:prstGeom prst="rect">
            <a:avLst/>
          </a:prstGeom>
        </p:spPr>
      </p:pic>
      <p:sp>
        <p:nvSpPr>
          <p:cNvPr id="9" name="TextBox 8"/>
          <p:cNvSpPr txBox="1"/>
          <p:nvPr/>
        </p:nvSpPr>
        <p:spPr>
          <a:xfrm>
            <a:off x="304800" y="1485900"/>
            <a:ext cx="17754600" cy="954107"/>
          </a:xfrm>
          <a:prstGeom prst="rect">
            <a:avLst/>
          </a:prstGeom>
          <a:noFill/>
        </p:spPr>
        <p:txBody>
          <a:bodyPr wrap="square" rtlCol="0">
            <a:spAutoFit/>
          </a:bodyPr>
          <a:lstStyle/>
          <a:p>
            <a:r>
              <a:rPr lang="en-US" sz="2800" dirty="0" smtClean="0">
                <a:solidFill>
                  <a:srgbClr val="000000"/>
                </a:solidFill>
                <a:latin typeface="Inter Light"/>
                <a:ea typeface="Inter Light"/>
                <a:cs typeface="Inter Light"/>
                <a:sym typeface="Inter Light"/>
              </a:rPr>
              <a:t>Implemented a dedicated Incident Service for end-to-end incident tracking, featuring severity classification, automated assignment workflows, SLA monitoring, and complete resolution management.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Milestone 3</a:t>
            </a:r>
            <a:endParaRPr lang="en-US" sz="5400" b="1" dirty="0">
              <a:solidFill>
                <a:srgbClr val="000000"/>
              </a:solidFill>
              <a:latin typeface="Inter Bold" charset="0"/>
              <a:ea typeface="Inter Bold" charset="0"/>
              <a:cs typeface="Inter Light"/>
              <a:sym typeface="Inter Light"/>
            </a:endParaRPr>
          </a:p>
        </p:txBody>
      </p:sp>
      <p:sp>
        <p:nvSpPr>
          <p:cNvPr id="9" name="TextBox 8"/>
          <p:cNvSpPr txBox="1"/>
          <p:nvPr/>
        </p:nvSpPr>
        <p:spPr>
          <a:xfrm>
            <a:off x="304800" y="1485900"/>
            <a:ext cx="17754600" cy="954107"/>
          </a:xfrm>
          <a:prstGeom prst="rect">
            <a:avLst/>
          </a:prstGeom>
          <a:noFill/>
        </p:spPr>
        <p:txBody>
          <a:bodyPr wrap="square" rtlCol="0">
            <a:spAutoFit/>
          </a:bodyPr>
          <a:lstStyle/>
          <a:p>
            <a:r>
              <a:rPr lang="en-US" sz="2800" dirty="0" smtClean="0">
                <a:solidFill>
                  <a:srgbClr val="000000"/>
                </a:solidFill>
                <a:latin typeface="Inter Light"/>
                <a:ea typeface="Inter Light"/>
                <a:cs typeface="Inter Light"/>
                <a:sym typeface="Inter Light"/>
              </a:rPr>
              <a:t>Implements a comprehensive Vulnerability Service to centrally manage CVEs, perform accurate risk assessments, and track patching progress to reduce overall system risk.</a:t>
            </a:r>
          </a:p>
        </p:txBody>
      </p:sp>
      <p:pic>
        <p:nvPicPr>
          <p:cNvPr id="10" name="Picture 9" descr="Screenshot (450).png"/>
          <p:cNvPicPr>
            <a:picLocks noChangeAspect="1"/>
          </p:cNvPicPr>
          <p:nvPr/>
        </p:nvPicPr>
        <p:blipFill>
          <a:blip r:embed="rId2" cstate="print"/>
          <a:stretch>
            <a:fillRect/>
          </a:stretch>
        </p:blipFill>
        <p:spPr>
          <a:xfrm>
            <a:off x="2286000" y="2476500"/>
            <a:ext cx="13716000" cy="757713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Milestone 4</a:t>
            </a:r>
            <a:endParaRPr lang="en-US" sz="5400" b="1" dirty="0">
              <a:solidFill>
                <a:srgbClr val="000000"/>
              </a:solidFill>
              <a:latin typeface="Inter Bold" charset="0"/>
              <a:ea typeface="Inter Bold" charset="0"/>
              <a:cs typeface="Inter Light"/>
              <a:sym typeface="Inter Light"/>
            </a:endParaRPr>
          </a:p>
        </p:txBody>
      </p:sp>
      <p:sp>
        <p:nvSpPr>
          <p:cNvPr id="9" name="TextBox 8"/>
          <p:cNvSpPr txBox="1"/>
          <p:nvPr/>
        </p:nvSpPr>
        <p:spPr>
          <a:xfrm>
            <a:off x="304800" y="1485900"/>
            <a:ext cx="17754600" cy="954107"/>
          </a:xfrm>
          <a:prstGeom prst="rect">
            <a:avLst/>
          </a:prstGeom>
          <a:noFill/>
        </p:spPr>
        <p:txBody>
          <a:bodyPr wrap="square" rtlCol="0">
            <a:spAutoFit/>
          </a:bodyPr>
          <a:lstStyle/>
          <a:p>
            <a:r>
              <a:rPr lang="en-US" sz="2800" dirty="0" smtClean="0">
                <a:solidFill>
                  <a:srgbClr val="000000"/>
                </a:solidFill>
                <a:latin typeface="Inter Light"/>
                <a:ea typeface="Inter Light"/>
                <a:cs typeface="Inter Light"/>
                <a:sym typeface="Inter Light"/>
              </a:rPr>
              <a:t>Manages an immutable, encrypted trail of 24.7 million logs with a 7-year retention policy to strictly track all user and system activities. </a:t>
            </a:r>
          </a:p>
        </p:txBody>
      </p:sp>
      <p:pic>
        <p:nvPicPr>
          <p:cNvPr id="2050" name="Picture 2"/>
          <p:cNvPicPr>
            <a:picLocks noChangeAspect="1" noChangeArrowheads="1"/>
          </p:cNvPicPr>
          <p:nvPr/>
        </p:nvPicPr>
        <p:blipFill>
          <a:blip r:embed="rId3" cstate="print"/>
          <a:srcRect/>
          <a:stretch>
            <a:fillRect/>
          </a:stretch>
        </p:blipFill>
        <p:spPr bwMode="auto">
          <a:xfrm>
            <a:off x="2362200" y="2476500"/>
            <a:ext cx="13639800" cy="754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Milestone 4</a:t>
            </a:r>
            <a:endParaRPr lang="en-US" sz="5400" b="1" dirty="0">
              <a:solidFill>
                <a:srgbClr val="000000"/>
              </a:solidFill>
              <a:latin typeface="Inter Bold" charset="0"/>
              <a:ea typeface="Inter Bold" charset="0"/>
              <a:cs typeface="Inter Light"/>
              <a:sym typeface="Inter Light"/>
            </a:endParaRPr>
          </a:p>
        </p:txBody>
      </p:sp>
      <p:sp>
        <p:nvSpPr>
          <p:cNvPr id="9" name="TextBox 8"/>
          <p:cNvSpPr txBox="1"/>
          <p:nvPr/>
        </p:nvSpPr>
        <p:spPr>
          <a:xfrm>
            <a:off x="304800" y="1485900"/>
            <a:ext cx="17754600" cy="954107"/>
          </a:xfrm>
          <a:prstGeom prst="rect">
            <a:avLst/>
          </a:prstGeom>
          <a:noFill/>
        </p:spPr>
        <p:txBody>
          <a:bodyPr wrap="square" rtlCol="0">
            <a:spAutoFit/>
          </a:bodyPr>
          <a:lstStyle/>
          <a:p>
            <a:r>
              <a:rPr lang="en-US" sz="2800" dirty="0" smtClean="0">
                <a:solidFill>
                  <a:srgbClr val="000000"/>
                </a:solidFill>
                <a:latin typeface="Inter Light"/>
                <a:ea typeface="Inter Light"/>
                <a:cs typeface="Inter Light"/>
                <a:sym typeface="Inter Light"/>
              </a:rPr>
              <a:t>Continuously enforces and verifies 100% adherence to critical regulatory frameworks, including PCI DSS, SOC 2, and ISO 27001.</a:t>
            </a:r>
          </a:p>
        </p:txBody>
      </p:sp>
      <p:pic>
        <p:nvPicPr>
          <p:cNvPr id="2050" name="Picture 2"/>
          <p:cNvPicPr>
            <a:picLocks noChangeAspect="1" noChangeArrowheads="1"/>
          </p:cNvPicPr>
          <p:nvPr/>
        </p:nvPicPr>
        <p:blipFill>
          <a:blip r:embed="rId3" cstate="print"/>
          <a:stretch>
            <a:fillRect/>
          </a:stretch>
        </p:blipFill>
        <p:spPr bwMode="auto">
          <a:xfrm>
            <a:off x="2286000" y="2476500"/>
            <a:ext cx="13716000" cy="754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Milestone 4</a:t>
            </a:r>
            <a:endParaRPr lang="en-US" sz="5400" b="1" dirty="0">
              <a:solidFill>
                <a:srgbClr val="000000"/>
              </a:solidFill>
              <a:latin typeface="Inter Bold" charset="0"/>
              <a:ea typeface="Inter Bold" charset="0"/>
              <a:cs typeface="Inter Light"/>
              <a:sym typeface="Inter Light"/>
            </a:endParaRPr>
          </a:p>
        </p:txBody>
      </p:sp>
      <p:sp>
        <p:nvSpPr>
          <p:cNvPr id="9" name="TextBox 8"/>
          <p:cNvSpPr txBox="1"/>
          <p:nvPr/>
        </p:nvSpPr>
        <p:spPr>
          <a:xfrm>
            <a:off x="304800" y="1485900"/>
            <a:ext cx="17754600" cy="954107"/>
          </a:xfrm>
          <a:prstGeom prst="rect">
            <a:avLst/>
          </a:prstGeom>
          <a:noFill/>
        </p:spPr>
        <p:txBody>
          <a:bodyPr wrap="square" rtlCol="0">
            <a:spAutoFit/>
          </a:bodyPr>
          <a:lstStyle/>
          <a:p>
            <a:r>
              <a:rPr lang="en-US" sz="2800" dirty="0" smtClean="0">
                <a:solidFill>
                  <a:srgbClr val="000000"/>
                </a:solidFill>
                <a:latin typeface="Inter Light"/>
                <a:ea typeface="Inter Light"/>
                <a:cs typeface="Inter Light"/>
                <a:sym typeface="Inter Light"/>
              </a:rPr>
              <a:t>Automatically compiles and exports comprehensive access, security, and compliance status reports for organizational stakeholders.</a:t>
            </a:r>
          </a:p>
        </p:txBody>
      </p:sp>
      <p:pic>
        <p:nvPicPr>
          <p:cNvPr id="2050" name="Picture 2"/>
          <p:cNvPicPr>
            <a:picLocks noChangeAspect="1" noChangeArrowheads="1"/>
          </p:cNvPicPr>
          <p:nvPr/>
        </p:nvPicPr>
        <p:blipFill>
          <a:blip r:embed="rId3" cstate="print"/>
          <a:stretch>
            <a:fillRect/>
          </a:stretch>
        </p:blipFill>
        <p:spPr bwMode="auto">
          <a:xfrm>
            <a:off x="2286000" y="2476500"/>
            <a:ext cx="13716000" cy="754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err="1" smtClean="0">
                <a:solidFill>
                  <a:srgbClr val="000000"/>
                </a:solidFill>
                <a:latin typeface="Inter Bold" charset="0"/>
                <a:ea typeface="Inter Bold" charset="0"/>
                <a:cs typeface="Inter Light"/>
                <a:sym typeface="Inter Light"/>
              </a:rPr>
              <a:t>DevSecOps</a:t>
            </a:r>
            <a:r>
              <a:rPr lang="en-US" sz="5400" b="1" dirty="0" smtClean="0">
                <a:solidFill>
                  <a:srgbClr val="000000"/>
                </a:solidFill>
                <a:latin typeface="Inter Bold" charset="0"/>
                <a:ea typeface="Inter Bold" charset="0"/>
                <a:cs typeface="Inter Light"/>
                <a:sym typeface="Inter Light"/>
              </a:rPr>
              <a:t> Dashboard</a:t>
            </a:r>
            <a:endParaRPr lang="en-US" sz="5400" b="1" dirty="0">
              <a:solidFill>
                <a:srgbClr val="000000"/>
              </a:solidFill>
              <a:latin typeface="Inter Bold" charset="0"/>
              <a:ea typeface="Inter Bold" charset="0"/>
              <a:cs typeface="Inter Light"/>
              <a:sym typeface="Inter Light"/>
            </a:endParaRPr>
          </a:p>
        </p:txBody>
      </p:sp>
      <p:pic>
        <p:nvPicPr>
          <p:cNvPr id="2050" name="Picture 2"/>
          <p:cNvPicPr>
            <a:picLocks noChangeAspect="1" noChangeArrowheads="1"/>
          </p:cNvPicPr>
          <p:nvPr/>
        </p:nvPicPr>
        <p:blipFill>
          <a:blip r:embed="rId3" cstate="print"/>
          <a:stretch>
            <a:fillRect/>
          </a:stretch>
        </p:blipFill>
        <p:spPr bwMode="auto">
          <a:xfrm>
            <a:off x="1828800" y="1485900"/>
            <a:ext cx="14630400" cy="822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Requests &amp; Messages</a:t>
            </a:r>
            <a:endParaRPr lang="en-US" sz="5400" b="1" dirty="0">
              <a:solidFill>
                <a:srgbClr val="000000"/>
              </a:solidFill>
              <a:latin typeface="Inter Bold" charset="0"/>
              <a:ea typeface="Inter Bold" charset="0"/>
              <a:cs typeface="Inter Light"/>
              <a:sym typeface="Inter Light"/>
            </a:endParaRPr>
          </a:p>
        </p:txBody>
      </p:sp>
      <p:pic>
        <p:nvPicPr>
          <p:cNvPr id="2050" name="Picture 2"/>
          <p:cNvPicPr>
            <a:picLocks noChangeAspect="1" noChangeArrowheads="1"/>
          </p:cNvPicPr>
          <p:nvPr/>
        </p:nvPicPr>
        <p:blipFill>
          <a:blip r:embed="rId3" cstate="print"/>
          <a:srcRect l="17206" b="12941"/>
          <a:stretch>
            <a:fillRect/>
          </a:stretch>
        </p:blipFill>
        <p:spPr bwMode="auto">
          <a:xfrm>
            <a:off x="228601" y="1333500"/>
            <a:ext cx="9372600" cy="5791200"/>
          </a:xfrm>
          <a:prstGeom prst="rect">
            <a:avLst/>
          </a:prstGeom>
          <a:noFill/>
          <a:ln w="9525">
            <a:noFill/>
            <a:miter lim="800000"/>
            <a:headEnd/>
            <a:tailEnd/>
          </a:ln>
        </p:spPr>
      </p:pic>
      <p:pic>
        <p:nvPicPr>
          <p:cNvPr id="8" name="Picture 7" descr="Screenshot (459).png"/>
          <p:cNvPicPr>
            <a:picLocks noChangeAspect="1"/>
          </p:cNvPicPr>
          <p:nvPr/>
        </p:nvPicPr>
        <p:blipFill>
          <a:blip r:embed="rId4" cstate="print"/>
          <a:srcRect l="17037"/>
          <a:stretch>
            <a:fillRect/>
          </a:stretch>
        </p:blipFill>
        <p:spPr>
          <a:xfrm>
            <a:off x="9601200" y="4229100"/>
            <a:ext cx="8534400" cy="578643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Manage Users</a:t>
            </a:r>
            <a:endParaRPr lang="en-US" sz="5400" b="1" dirty="0">
              <a:solidFill>
                <a:srgbClr val="000000"/>
              </a:solidFill>
              <a:latin typeface="Inter Bold" charset="0"/>
              <a:ea typeface="Inter Bold" charset="0"/>
              <a:cs typeface="Inter Light"/>
              <a:sym typeface="Inter Light"/>
            </a:endParaRPr>
          </a:p>
        </p:txBody>
      </p:sp>
      <p:pic>
        <p:nvPicPr>
          <p:cNvPr id="8" name="Picture 7" descr="Screenshot (455).png"/>
          <p:cNvPicPr>
            <a:picLocks noChangeAspect="1"/>
          </p:cNvPicPr>
          <p:nvPr/>
        </p:nvPicPr>
        <p:blipFill>
          <a:blip r:embed="rId3" cstate="print"/>
          <a:stretch>
            <a:fillRect/>
          </a:stretch>
        </p:blipFill>
        <p:spPr>
          <a:xfrm>
            <a:off x="2286000" y="1714500"/>
            <a:ext cx="13716000" cy="82296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CSMS </a:t>
            </a:r>
            <a:r>
              <a:rPr lang="en-US" sz="5400" b="1" dirty="0" err="1" smtClean="0">
                <a:solidFill>
                  <a:srgbClr val="000000"/>
                </a:solidFill>
                <a:latin typeface="Inter Bold" charset="0"/>
                <a:ea typeface="Inter Bold" charset="0"/>
                <a:cs typeface="Inter Light"/>
                <a:sym typeface="Inter Light"/>
              </a:rPr>
              <a:t>ChatBot</a:t>
            </a:r>
            <a:endParaRPr lang="en-US" sz="5400" b="1" dirty="0">
              <a:solidFill>
                <a:srgbClr val="000000"/>
              </a:solidFill>
              <a:latin typeface="Inter Bold" charset="0"/>
              <a:ea typeface="Inter Bold" charset="0"/>
              <a:cs typeface="Inter Light"/>
              <a:sym typeface="Inter Light"/>
            </a:endParaRPr>
          </a:p>
        </p:txBody>
      </p:sp>
      <p:pic>
        <p:nvPicPr>
          <p:cNvPr id="9" name="Picture 8" descr="Screenshot (456).png"/>
          <p:cNvPicPr>
            <a:picLocks noChangeAspect="1"/>
          </p:cNvPicPr>
          <p:nvPr/>
        </p:nvPicPr>
        <p:blipFill>
          <a:blip r:embed="rId3" cstate="print"/>
          <a:srcRect l="75000"/>
          <a:stretch>
            <a:fillRect/>
          </a:stretch>
        </p:blipFill>
        <p:spPr>
          <a:xfrm>
            <a:off x="1600200" y="1485900"/>
            <a:ext cx="3657600" cy="8229600"/>
          </a:xfrm>
          <a:prstGeom prst="rect">
            <a:avLst/>
          </a:prstGeom>
        </p:spPr>
      </p:pic>
      <p:pic>
        <p:nvPicPr>
          <p:cNvPr id="10" name="Picture 9" descr="Screenshot (457).png"/>
          <p:cNvPicPr>
            <a:picLocks noChangeAspect="1"/>
          </p:cNvPicPr>
          <p:nvPr/>
        </p:nvPicPr>
        <p:blipFill>
          <a:blip r:embed="rId4" cstate="print"/>
          <a:srcRect l="75521"/>
          <a:stretch>
            <a:fillRect/>
          </a:stretch>
        </p:blipFill>
        <p:spPr>
          <a:xfrm>
            <a:off x="7010400" y="1562100"/>
            <a:ext cx="3581400" cy="8229600"/>
          </a:xfrm>
          <a:prstGeom prst="rect">
            <a:avLst/>
          </a:prstGeom>
        </p:spPr>
      </p:pic>
      <p:pic>
        <p:nvPicPr>
          <p:cNvPr id="3074" name="Picture 2"/>
          <p:cNvPicPr>
            <a:picLocks noChangeAspect="1" noChangeArrowheads="1"/>
          </p:cNvPicPr>
          <p:nvPr/>
        </p:nvPicPr>
        <p:blipFill>
          <a:blip r:embed="rId5" cstate="print"/>
          <a:srcRect/>
          <a:stretch>
            <a:fillRect/>
          </a:stretch>
        </p:blipFill>
        <p:spPr bwMode="auto">
          <a:xfrm>
            <a:off x="12268200" y="1485900"/>
            <a:ext cx="3733800" cy="82153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pic>
        <p:nvPicPr>
          <p:cNvPr id="1026" name="Picture 2"/>
          <p:cNvPicPr>
            <a:picLocks noChangeAspect="1" noChangeArrowheads="1"/>
          </p:cNvPicPr>
          <p:nvPr/>
        </p:nvPicPr>
        <p:blipFill>
          <a:blip r:embed="rId2" cstate="print"/>
          <a:srcRect/>
          <a:stretch>
            <a:fillRect/>
          </a:stretch>
        </p:blipFill>
        <p:spPr bwMode="auto">
          <a:xfrm>
            <a:off x="1981200" y="1333500"/>
            <a:ext cx="14020800" cy="8650287"/>
          </a:xfrm>
          <a:prstGeom prst="rect">
            <a:avLst/>
          </a:prstGeom>
          <a:noFill/>
          <a:ln w="9525">
            <a:noFill/>
            <a:miter lim="800000"/>
            <a:headEnd/>
            <a:tailEnd/>
          </a:ln>
          <a:effectLst/>
        </p:spPr>
      </p:pic>
      <p:sp>
        <p:nvSpPr>
          <p:cNvPr id="17" name="AutoShape 9"/>
          <p:cNvSpPr/>
          <p:nvPr/>
        </p:nvSpPr>
        <p:spPr>
          <a:xfrm>
            <a:off x="3505200" y="1104900"/>
            <a:ext cx="10820400" cy="0"/>
          </a:xfrm>
          <a:prstGeom prst="line">
            <a:avLst/>
          </a:prstGeom>
          <a:ln w="19050" cap="flat">
            <a:solidFill>
              <a:srgbClr val="000000"/>
            </a:solidFill>
            <a:prstDash val="solid"/>
            <a:headEnd type="none" w="sm" len="sm"/>
            <a:tailEnd type="none" w="sm" len="sm"/>
          </a:ln>
        </p:spPr>
      </p:sp>
      <p:sp>
        <p:nvSpPr>
          <p:cNvPr id="18" name="TextBox 11"/>
          <p:cNvSpPr txBox="1"/>
          <p:nvPr/>
        </p:nvSpPr>
        <p:spPr>
          <a:xfrm>
            <a:off x="457200" y="1905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Entity-Relationship Diagram (ERD)</a:t>
            </a:r>
            <a:endParaRPr lang="en-US" sz="5400" b="1" dirty="0">
              <a:solidFill>
                <a:srgbClr val="000000"/>
              </a:solidFill>
              <a:latin typeface="Inter Bold" charset="0"/>
              <a:ea typeface="Inter Bold" charset="0"/>
              <a:cs typeface="Inter Light"/>
              <a:sym typeface="Inter Ligh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28575"/>
            <a:chExt cx="3300292" cy="3670982"/>
          </a:xfrm>
        </p:grpSpPr>
        <p:sp>
          <p:nvSpPr>
            <p:cNvPr id="15" name="Freeform 3"/>
            <p:cNvSpPr/>
            <p:nvPr/>
          </p:nvSpPr>
          <p:spPr>
            <a:xfrm>
              <a:off x="0" y="-28575"/>
              <a:ext cx="3300292" cy="3670982"/>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16"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grpSp>
        <p:nvGrpSpPr>
          <p:cNvPr id="8" name="Group 2"/>
          <p:cNvGrpSpPr/>
          <p:nvPr/>
        </p:nvGrpSpPr>
        <p:grpSpPr>
          <a:xfrm rot="20352185">
            <a:off x="-1780173" y="1289397"/>
            <a:ext cx="21665561" cy="6652946"/>
            <a:chOff x="0" y="0"/>
            <a:chExt cx="8023669" cy="10436601"/>
          </a:xfrm>
        </p:grpSpPr>
        <p:sp>
          <p:nvSpPr>
            <p:cNvPr id="9" name="Freeform 3"/>
            <p:cNvSpPr/>
            <p:nvPr/>
          </p:nvSpPr>
          <p:spPr>
            <a:xfrm>
              <a:off x="0" y="0"/>
              <a:ext cx="8023668" cy="10436601"/>
            </a:xfrm>
            <a:custGeom>
              <a:avLst/>
              <a:gdLst/>
              <a:ahLst/>
              <a:cxnLst/>
              <a:rect l="l" t="t" r="r" b="b"/>
              <a:pathLst>
                <a:path w="8023668" h="10436601">
                  <a:moveTo>
                    <a:pt x="73616" y="0"/>
                  </a:moveTo>
                  <a:lnTo>
                    <a:pt x="7950052" y="0"/>
                  </a:lnTo>
                  <a:cubicBezTo>
                    <a:pt x="7969576" y="0"/>
                    <a:pt x="7988301" y="7756"/>
                    <a:pt x="8002107" y="21562"/>
                  </a:cubicBezTo>
                  <a:cubicBezTo>
                    <a:pt x="8015912" y="35367"/>
                    <a:pt x="8023668" y="54092"/>
                    <a:pt x="8023668" y="73616"/>
                  </a:cubicBezTo>
                  <a:lnTo>
                    <a:pt x="8023668" y="10362985"/>
                  </a:lnTo>
                  <a:cubicBezTo>
                    <a:pt x="8023668" y="10382509"/>
                    <a:pt x="8015912" y="10401233"/>
                    <a:pt x="8002107" y="10415039"/>
                  </a:cubicBezTo>
                  <a:cubicBezTo>
                    <a:pt x="7988301" y="10428845"/>
                    <a:pt x="7969576" y="10436601"/>
                    <a:pt x="7950052" y="10436601"/>
                  </a:cubicBezTo>
                  <a:lnTo>
                    <a:pt x="73616" y="10436601"/>
                  </a:lnTo>
                  <a:cubicBezTo>
                    <a:pt x="54092" y="10436601"/>
                    <a:pt x="35367" y="10428845"/>
                    <a:pt x="21562" y="10415039"/>
                  </a:cubicBezTo>
                  <a:cubicBezTo>
                    <a:pt x="7756" y="10401233"/>
                    <a:pt x="0" y="10382509"/>
                    <a:pt x="0" y="10362985"/>
                  </a:cubicBezTo>
                  <a:lnTo>
                    <a:pt x="0" y="73616"/>
                  </a:lnTo>
                  <a:cubicBezTo>
                    <a:pt x="0" y="54092"/>
                    <a:pt x="7756" y="35367"/>
                    <a:pt x="21562" y="21562"/>
                  </a:cubicBezTo>
                  <a:cubicBezTo>
                    <a:pt x="35367" y="7756"/>
                    <a:pt x="54092" y="0"/>
                    <a:pt x="73616" y="0"/>
                  </a:cubicBezTo>
                  <a:close/>
                </a:path>
              </a:pathLst>
            </a:custGeom>
            <a:gradFill rotWithShape="1">
              <a:gsLst>
                <a:gs pos="0">
                  <a:srgbClr val="89FFFE">
                    <a:alpha val="100000"/>
                  </a:srgbClr>
                </a:gs>
                <a:gs pos="100000">
                  <a:srgbClr val="57C7FF">
                    <a:alpha val="100000"/>
                  </a:srgbClr>
                </a:gs>
              </a:gsLst>
              <a:path path="circle">
                <a:fillToRect l="50000" t="50000" r="50000" b="50000"/>
              </a:path>
            </a:gradFill>
          </p:spPr>
        </p:sp>
        <p:sp>
          <p:nvSpPr>
            <p:cNvPr id="10" name="TextBox 4"/>
            <p:cNvSpPr txBox="1"/>
            <p:nvPr/>
          </p:nvSpPr>
          <p:spPr>
            <a:xfrm>
              <a:off x="0" y="-57150"/>
              <a:ext cx="8023669" cy="10493751"/>
            </a:xfrm>
            <a:prstGeom prst="rect">
              <a:avLst/>
            </a:prstGeom>
          </p:spPr>
          <p:txBody>
            <a:bodyPr lIns="50800" tIns="50800" rIns="50800" bIns="50800" rtlCol="0" anchor="ctr"/>
            <a:lstStyle/>
            <a:p>
              <a:pPr algn="ctr">
                <a:lnSpc>
                  <a:spcPts val="3150"/>
                </a:lnSpc>
              </a:pPr>
              <a:endParaRPr/>
            </a:p>
          </p:txBody>
        </p:sp>
      </p:grpSp>
      <p:sp>
        <p:nvSpPr>
          <p:cNvPr id="18" name="TextBox 11"/>
          <p:cNvSpPr txBox="1"/>
          <p:nvPr/>
        </p:nvSpPr>
        <p:spPr>
          <a:xfrm>
            <a:off x="381000" y="3695700"/>
            <a:ext cx="17373600" cy="1477328"/>
          </a:xfrm>
          <a:prstGeom prst="rect">
            <a:avLst/>
          </a:prstGeom>
        </p:spPr>
        <p:txBody>
          <a:bodyPr wrap="square" lIns="0" tIns="0" rIns="0" bIns="0" rtlCol="0" anchor="t">
            <a:spAutoFit/>
          </a:bodyPr>
          <a:lstStyle/>
          <a:p>
            <a:pPr lvl="0" algn="ctr"/>
            <a:r>
              <a:rPr lang="en-US" sz="9600" b="1" dirty="0" smtClean="0">
                <a:solidFill>
                  <a:srgbClr val="000000"/>
                </a:solidFill>
                <a:latin typeface="Inter Bold" charset="0"/>
                <a:ea typeface="Inter Bold" charset="0"/>
                <a:cs typeface="Inter Light"/>
                <a:sym typeface="Inter Light"/>
              </a:rPr>
              <a:t>Milestones Overview</a:t>
            </a:r>
            <a:endParaRPr lang="en-US" sz="9600" b="1" dirty="0">
              <a:solidFill>
                <a:srgbClr val="000000"/>
              </a:solidFill>
              <a:latin typeface="Inter Bold" charset="0"/>
              <a:ea typeface="Inter Bold" charset="0"/>
              <a:cs typeface="Inter Light"/>
              <a:sym typeface="Inter Light"/>
            </a:endParaRPr>
          </a:p>
        </p:txBody>
      </p:sp>
      <p:sp>
        <p:nvSpPr>
          <p:cNvPr id="17" name="AutoShape 9"/>
          <p:cNvSpPr/>
          <p:nvPr/>
        </p:nvSpPr>
        <p:spPr>
          <a:xfrm>
            <a:off x="3505200" y="5295900"/>
            <a:ext cx="10820400" cy="0"/>
          </a:xfrm>
          <a:prstGeom prst="line">
            <a:avLst/>
          </a:prstGeom>
          <a:ln w="19050" cap="flat">
            <a:solidFill>
              <a:srgbClr val="000000"/>
            </a:solidFill>
            <a:prstDash val="solid"/>
            <a:headEnd type="none" w="sm" len="sm"/>
            <a:tailEnd type="none" w="sm" len="sm"/>
          </a:ln>
        </p:spPr>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Oval 71"/>
          <p:cNvSpPr/>
          <p:nvPr/>
        </p:nvSpPr>
        <p:spPr>
          <a:xfrm>
            <a:off x="13411200" y="6134100"/>
            <a:ext cx="7505700" cy="6477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2362200" y="-2171700"/>
            <a:ext cx="6858000" cy="64008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9"/>
          <p:cNvGrpSpPr/>
          <p:nvPr/>
        </p:nvGrpSpPr>
        <p:grpSpPr>
          <a:xfrm>
            <a:off x="375502" y="358826"/>
            <a:ext cx="8616098" cy="4648200"/>
            <a:chOff x="0" y="0"/>
            <a:chExt cx="6114281" cy="5008017"/>
          </a:xfrm>
        </p:grpSpPr>
        <p:sp>
          <p:nvSpPr>
            <p:cNvPr id="10" name="Freeform 10"/>
            <p:cNvSpPr/>
            <p:nvPr/>
          </p:nvSpPr>
          <p:spPr>
            <a:xfrm>
              <a:off x="0" y="0"/>
              <a:ext cx="6114281" cy="5008017"/>
            </a:xfrm>
            <a:custGeom>
              <a:avLst/>
              <a:gdLst/>
              <a:ahLst/>
              <a:cxnLst/>
              <a:rect l="l" t="t" r="r" b="b"/>
              <a:pathLst>
                <a:path w="6114281" h="5008017">
                  <a:moveTo>
                    <a:pt x="96605" y="0"/>
                  </a:moveTo>
                  <a:lnTo>
                    <a:pt x="6017675" y="0"/>
                  </a:lnTo>
                  <a:cubicBezTo>
                    <a:pt x="6043297" y="0"/>
                    <a:pt x="6067868" y="10178"/>
                    <a:pt x="6085985" y="28295"/>
                  </a:cubicBezTo>
                  <a:cubicBezTo>
                    <a:pt x="6104103" y="46412"/>
                    <a:pt x="6114281" y="70984"/>
                    <a:pt x="6114281" y="96605"/>
                  </a:cubicBezTo>
                  <a:lnTo>
                    <a:pt x="6114281" y="4911411"/>
                  </a:lnTo>
                  <a:cubicBezTo>
                    <a:pt x="6114281" y="4937033"/>
                    <a:pt x="6104103" y="4961605"/>
                    <a:pt x="6085985" y="4979722"/>
                  </a:cubicBezTo>
                  <a:cubicBezTo>
                    <a:pt x="6067868" y="4997839"/>
                    <a:pt x="6043297" y="5008017"/>
                    <a:pt x="6017675" y="5008017"/>
                  </a:cubicBezTo>
                  <a:lnTo>
                    <a:pt x="96605" y="5008017"/>
                  </a:lnTo>
                  <a:cubicBezTo>
                    <a:pt x="70984" y="5008017"/>
                    <a:pt x="46412" y="4997839"/>
                    <a:pt x="28295" y="4979722"/>
                  </a:cubicBezTo>
                  <a:cubicBezTo>
                    <a:pt x="10178" y="4961605"/>
                    <a:pt x="0" y="4937033"/>
                    <a:pt x="0" y="4911411"/>
                  </a:cubicBezTo>
                  <a:lnTo>
                    <a:pt x="0" y="96605"/>
                  </a:lnTo>
                  <a:cubicBezTo>
                    <a:pt x="0" y="70984"/>
                    <a:pt x="10178" y="46412"/>
                    <a:pt x="28295" y="28295"/>
                  </a:cubicBezTo>
                  <a:cubicBezTo>
                    <a:pt x="46412" y="10178"/>
                    <a:pt x="70984" y="0"/>
                    <a:pt x="96605" y="0"/>
                  </a:cubicBezTo>
                  <a:close/>
                </a:path>
              </a:pathLst>
            </a:custGeom>
            <a:solidFill>
              <a:srgbClr val="EDEDED"/>
            </a:solidFill>
            <a:ln cap="rnd">
              <a:noFill/>
              <a:prstDash val="solid"/>
              <a:round/>
            </a:ln>
          </p:spPr>
        </p:sp>
        <p:sp>
          <p:nvSpPr>
            <p:cNvPr id="11" name="TextBox 11"/>
            <p:cNvSpPr txBox="1"/>
            <p:nvPr/>
          </p:nvSpPr>
          <p:spPr>
            <a:xfrm>
              <a:off x="0" y="-57150"/>
              <a:ext cx="6114281" cy="5065167"/>
            </a:xfrm>
            <a:prstGeom prst="rect">
              <a:avLst/>
            </a:prstGeom>
          </p:spPr>
          <p:txBody>
            <a:bodyPr lIns="50800" tIns="50800" rIns="50800" bIns="50800" rtlCol="0" anchor="ctr"/>
            <a:lstStyle/>
            <a:p>
              <a:pPr algn="ctr">
                <a:lnSpc>
                  <a:spcPts val="3150"/>
                </a:lnSpc>
              </a:pPr>
              <a:endParaRPr/>
            </a:p>
          </p:txBody>
        </p:sp>
      </p:grpSp>
      <p:sp>
        <p:nvSpPr>
          <p:cNvPr id="47" name="Freeform 10"/>
          <p:cNvSpPr/>
          <p:nvPr/>
        </p:nvSpPr>
        <p:spPr>
          <a:xfrm>
            <a:off x="9220200" y="342900"/>
            <a:ext cx="8768498" cy="4648200"/>
          </a:xfrm>
          <a:custGeom>
            <a:avLst/>
            <a:gdLst/>
            <a:ahLst/>
            <a:cxnLst/>
            <a:rect l="l" t="t" r="r" b="b"/>
            <a:pathLst>
              <a:path w="6114281" h="5008017">
                <a:moveTo>
                  <a:pt x="96605" y="0"/>
                </a:moveTo>
                <a:lnTo>
                  <a:pt x="6017675" y="0"/>
                </a:lnTo>
                <a:cubicBezTo>
                  <a:pt x="6043297" y="0"/>
                  <a:pt x="6067868" y="10178"/>
                  <a:pt x="6085985" y="28295"/>
                </a:cubicBezTo>
                <a:cubicBezTo>
                  <a:pt x="6104103" y="46412"/>
                  <a:pt x="6114281" y="70984"/>
                  <a:pt x="6114281" y="96605"/>
                </a:cubicBezTo>
                <a:lnTo>
                  <a:pt x="6114281" y="4911411"/>
                </a:lnTo>
                <a:cubicBezTo>
                  <a:pt x="6114281" y="4937033"/>
                  <a:pt x="6104103" y="4961605"/>
                  <a:pt x="6085985" y="4979722"/>
                </a:cubicBezTo>
                <a:cubicBezTo>
                  <a:pt x="6067868" y="4997839"/>
                  <a:pt x="6043297" y="5008017"/>
                  <a:pt x="6017675" y="5008017"/>
                </a:cubicBezTo>
                <a:lnTo>
                  <a:pt x="96605" y="5008017"/>
                </a:lnTo>
                <a:cubicBezTo>
                  <a:pt x="70984" y="5008017"/>
                  <a:pt x="46412" y="4997839"/>
                  <a:pt x="28295" y="4979722"/>
                </a:cubicBezTo>
                <a:cubicBezTo>
                  <a:pt x="10178" y="4961605"/>
                  <a:pt x="0" y="4937033"/>
                  <a:pt x="0" y="4911411"/>
                </a:cubicBezTo>
                <a:lnTo>
                  <a:pt x="0" y="96605"/>
                </a:lnTo>
                <a:cubicBezTo>
                  <a:pt x="0" y="70984"/>
                  <a:pt x="10178" y="46412"/>
                  <a:pt x="28295" y="28295"/>
                </a:cubicBezTo>
                <a:cubicBezTo>
                  <a:pt x="46412" y="10178"/>
                  <a:pt x="70984" y="0"/>
                  <a:pt x="96605" y="0"/>
                </a:cubicBezTo>
                <a:close/>
              </a:path>
            </a:pathLst>
          </a:custGeom>
          <a:solidFill>
            <a:schemeClr val="tx2">
              <a:lumMod val="20000"/>
              <a:lumOff val="80000"/>
            </a:schemeClr>
          </a:solidFill>
          <a:ln cap="rnd">
            <a:noFill/>
            <a:prstDash val="solid"/>
            <a:round/>
          </a:ln>
        </p:spPr>
      </p:sp>
      <p:grpSp>
        <p:nvGrpSpPr>
          <p:cNvPr id="56" name="Group 9"/>
          <p:cNvGrpSpPr/>
          <p:nvPr/>
        </p:nvGrpSpPr>
        <p:grpSpPr>
          <a:xfrm>
            <a:off x="381000" y="5219700"/>
            <a:ext cx="8616098" cy="4648200"/>
            <a:chOff x="0" y="0"/>
            <a:chExt cx="6114281" cy="5008017"/>
          </a:xfrm>
          <a:solidFill>
            <a:schemeClr val="tx2">
              <a:lumMod val="20000"/>
              <a:lumOff val="80000"/>
            </a:schemeClr>
          </a:solidFill>
        </p:grpSpPr>
        <p:sp>
          <p:nvSpPr>
            <p:cNvPr id="57" name="Freeform 10"/>
            <p:cNvSpPr/>
            <p:nvPr/>
          </p:nvSpPr>
          <p:spPr>
            <a:xfrm>
              <a:off x="0" y="0"/>
              <a:ext cx="6114281" cy="5008017"/>
            </a:xfrm>
            <a:custGeom>
              <a:avLst/>
              <a:gdLst/>
              <a:ahLst/>
              <a:cxnLst/>
              <a:rect l="l" t="t" r="r" b="b"/>
              <a:pathLst>
                <a:path w="6114281" h="5008017">
                  <a:moveTo>
                    <a:pt x="96605" y="0"/>
                  </a:moveTo>
                  <a:lnTo>
                    <a:pt x="6017675" y="0"/>
                  </a:lnTo>
                  <a:cubicBezTo>
                    <a:pt x="6043297" y="0"/>
                    <a:pt x="6067868" y="10178"/>
                    <a:pt x="6085985" y="28295"/>
                  </a:cubicBezTo>
                  <a:cubicBezTo>
                    <a:pt x="6104103" y="46412"/>
                    <a:pt x="6114281" y="70984"/>
                    <a:pt x="6114281" y="96605"/>
                  </a:cubicBezTo>
                  <a:lnTo>
                    <a:pt x="6114281" y="4911411"/>
                  </a:lnTo>
                  <a:cubicBezTo>
                    <a:pt x="6114281" y="4937033"/>
                    <a:pt x="6104103" y="4961605"/>
                    <a:pt x="6085985" y="4979722"/>
                  </a:cubicBezTo>
                  <a:cubicBezTo>
                    <a:pt x="6067868" y="4997839"/>
                    <a:pt x="6043297" y="5008017"/>
                    <a:pt x="6017675" y="5008017"/>
                  </a:cubicBezTo>
                  <a:lnTo>
                    <a:pt x="96605" y="5008017"/>
                  </a:lnTo>
                  <a:cubicBezTo>
                    <a:pt x="70984" y="5008017"/>
                    <a:pt x="46412" y="4997839"/>
                    <a:pt x="28295" y="4979722"/>
                  </a:cubicBezTo>
                  <a:cubicBezTo>
                    <a:pt x="10178" y="4961605"/>
                    <a:pt x="0" y="4937033"/>
                    <a:pt x="0" y="4911411"/>
                  </a:cubicBezTo>
                  <a:lnTo>
                    <a:pt x="0" y="96605"/>
                  </a:lnTo>
                  <a:cubicBezTo>
                    <a:pt x="0" y="70984"/>
                    <a:pt x="10178" y="46412"/>
                    <a:pt x="28295" y="28295"/>
                  </a:cubicBezTo>
                  <a:cubicBezTo>
                    <a:pt x="46412" y="10178"/>
                    <a:pt x="70984" y="0"/>
                    <a:pt x="96605" y="0"/>
                  </a:cubicBezTo>
                  <a:close/>
                </a:path>
              </a:pathLst>
            </a:custGeom>
            <a:grpFill/>
            <a:ln cap="rnd">
              <a:noFill/>
              <a:prstDash val="solid"/>
              <a:round/>
            </a:ln>
          </p:spPr>
        </p:sp>
        <p:sp>
          <p:nvSpPr>
            <p:cNvPr id="58" name="TextBox 11"/>
            <p:cNvSpPr txBox="1"/>
            <p:nvPr/>
          </p:nvSpPr>
          <p:spPr>
            <a:xfrm>
              <a:off x="0" y="-57150"/>
              <a:ext cx="6114281" cy="5065167"/>
            </a:xfrm>
            <a:prstGeom prst="rect">
              <a:avLst/>
            </a:prstGeom>
            <a:grpFill/>
          </p:spPr>
          <p:txBody>
            <a:bodyPr lIns="50800" tIns="50800" rIns="50800" bIns="50800" rtlCol="0" anchor="ctr"/>
            <a:lstStyle/>
            <a:p>
              <a:pPr algn="ctr">
                <a:lnSpc>
                  <a:spcPts val="3150"/>
                </a:lnSpc>
              </a:pPr>
              <a:endParaRPr/>
            </a:p>
          </p:txBody>
        </p:sp>
      </p:grpSp>
      <p:sp>
        <p:nvSpPr>
          <p:cNvPr id="63" name="Freeform 10"/>
          <p:cNvSpPr/>
          <p:nvPr/>
        </p:nvSpPr>
        <p:spPr>
          <a:xfrm>
            <a:off x="9220200" y="5203774"/>
            <a:ext cx="8773996" cy="4648200"/>
          </a:xfrm>
          <a:custGeom>
            <a:avLst/>
            <a:gdLst/>
            <a:ahLst/>
            <a:cxnLst/>
            <a:rect l="l" t="t" r="r" b="b"/>
            <a:pathLst>
              <a:path w="6114281" h="5008017">
                <a:moveTo>
                  <a:pt x="96605" y="0"/>
                </a:moveTo>
                <a:lnTo>
                  <a:pt x="6017675" y="0"/>
                </a:lnTo>
                <a:cubicBezTo>
                  <a:pt x="6043297" y="0"/>
                  <a:pt x="6067868" y="10178"/>
                  <a:pt x="6085985" y="28295"/>
                </a:cubicBezTo>
                <a:cubicBezTo>
                  <a:pt x="6104103" y="46412"/>
                  <a:pt x="6114281" y="70984"/>
                  <a:pt x="6114281" y="96605"/>
                </a:cubicBezTo>
                <a:lnTo>
                  <a:pt x="6114281" y="4911411"/>
                </a:lnTo>
                <a:cubicBezTo>
                  <a:pt x="6114281" y="4937033"/>
                  <a:pt x="6104103" y="4961605"/>
                  <a:pt x="6085985" y="4979722"/>
                </a:cubicBezTo>
                <a:cubicBezTo>
                  <a:pt x="6067868" y="4997839"/>
                  <a:pt x="6043297" y="5008017"/>
                  <a:pt x="6017675" y="5008017"/>
                </a:cubicBezTo>
                <a:lnTo>
                  <a:pt x="96605" y="5008017"/>
                </a:lnTo>
                <a:cubicBezTo>
                  <a:pt x="70984" y="5008017"/>
                  <a:pt x="46412" y="4997839"/>
                  <a:pt x="28295" y="4979722"/>
                </a:cubicBezTo>
                <a:cubicBezTo>
                  <a:pt x="10178" y="4961605"/>
                  <a:pt x="0" y="4937033"/>
                  <a:pt x="0" y="4911411"/>
                </a:cubicBezTo>
                <a:lnTo>
                  <a:pt x="0" y="96605"/>
                </a:lnTo>
                <a:cubicBezTo>
                  <a:pt x="0" y="70984"/>
                  <a:pt x="10178" y="46412"/>
                  <a:pt x="28295" y="28295"/>
                </a:cubicBezTo>
                <a:cubicBezTo>
                  <a:pt x="46412" y="10178"/>
                  <a:pt x="70984" y="0"/>
                  <a:pt x="96605" y="0"/>
                </a:cubicBezTo>
                <a:close/>
              </a:path>
            </a:pathLst>
          </a:custGeom>
          <a:solidFill>
            <a:srgbClr val="EDEDED"/>
          </a:solidFill>
          <a:ln cap="rnd">
            <a:noFill/>
            <a:prstDash val="solid"/>
            <a:round/>
          </a:ln>
        </p:spPr>
      </p:sp>
      <p:sp>
        <p:nvSpPr>
          <p:cNvPr id="64" name="TextBox 63"/>
          <p:cNvSpPr txBox="1"/>
          <p:nvPr/>
        </p:nvSpPr>
        <p:spPr>
          <a:xfrm>
            <a:off x="609600" y="495300"/>
            <a:ext cx="7010400" cy="523220"/>
          </a:xfrm>
          <a:prstGeom prst="rect">
            <a:avLst/>
          </a:prstGeom>
          <a:noFill/>
        </p:spPr>
        <p:txBody>
          <a:bodyPr wrap="square" rtlCol="0">
            <a:spAutoFit/>
          </a:bodyPr>
          <a:lstStyle/>
          <a:p>
            <a:r>
              <a:rPr lang="en-US" sz="2800" dirty="0" smtClean="0">
                <a:solidFill>
                  <a:schemeClr val="bg1">
                    <a:lumMod val="50000"/>
                  </a:schemeClr>
                </a:solidFill>
                <a:latin typeface="Inter Bold" charset="0"/>
                <a:ea typeface="Inter Bold" charset="0"/>
              </a:rPr>
              <a:t>Milestone 1</a:t>
            </a:r>
            <a:endParaRPr lang="en-US" sz="2800" dirty="0">
              <a:solidFill>
                <a:schemeClr val="bg1">
                  <a:lumMod val="50000"/>
                </a:schemeClr>
              </a:solidFill>
              <a:latin typeface="Inter Bold" charset="0"/>
              <a:ea typeface="Inter Bold" charset="0"/>
            </a:endParaRPr>
          </a:p>
        </p:txBody>
      </p:sp>
      <p:sp>
        <p:nvSpPr>
          <p:cNvPr id="65" name="TextBox 64"/>
          <p:cNvSpPr txBox="1"/>
          <p:nvPr/>
        </p:nvSpPr>
        <p:spPr>
          <a:xfrm>
            <a:off x="609600" y="1028700"/>
            <a:ext cx="8153400" cy="3970318"/>
          </a:xfrm>
          <a:prstGeom prst="rect">
            <a:avLst/>
          </a:prstGeom>
          <a:noFill/>
        </p:spPr>
        <p:txBody>
          <a:bodyPr wrap="square" rtlCol="0">
            <a:spAutoFit/>
          </a:bodyPr>
          <a:lstStyle/>
          <a:p>
            <a:pPr>
              <a:lnSpc>
                <a:spcPct val="150000"/>
              </a:lnSpc>
            </a:pPr>
            <a:r>
              <a:rPr lang="en-US" sz="2800" dirty="0" smtClean="0">
                <a:latin typeface="Inter Light" charset="0"/>
                <a:ea typeface="Inter Light" charset="0"/>
              </a:rPr>
              <a:t>Implement infrastructure telemetry and health monitoring across servers, networks, and cloud nodes. Track CPU, memory, disk, and network usage in real time, achieve 99.99% uptime SLA, and trigger automated anomaly alerts with auto-scaling.</a:t>
            </a:r>
            <a:endParaRPr lang="en-US" sz="2800" dirty="0">
              <a:latin typeface="Inter Light" charset="0"/>
              <a:ea typeface="Inter Light" charset="0"/>
            </a:endParaRPr>
          </a:p>
        </p:txBody>
      </p:sp>
      <p:sp>
        <p:nvSpPr>
          <p:cNvPr id="66" name="TextBox 65"/>
          <p:cNvSpPr txBox="1"/>
          <p:nvPr/>
        </p:nvSpPr>
        <p:spPr>
          <a:xfrm>
            <a:off x="9448800" y="495300"/>
            <a:ext cx="7010400" cy="523220"/>
          </a:xfrm>
          <a:prstGeom prst="rect">
            <a:avLst/>
          </a:prstGeom>
          <a:noFill/>
        </p:spPr>
        <p:txBody>
          <a:bodyPr wrap="square" rtlCol="0">
            <a:spAutoFit/>
          </a:bodyPr>
          <a:lstStyle/>
          <a:p>
            <a:r>
              <a:rPr lang="en-US" sz="2800" dirty="0" smtClean="0">
                <a:solidFill>
                  <a:schemeClr val="accent1">
                    <a:lumMod val="75000"/>
                  </a:schemeClr>
                </a:solidFill>
                <a:latin typeface="Inter Bold" charset="0"/>
                <a:ea typeface="Inter Bold" charset="0"/>
              </a:rPr>
              <a:t>Milestone 2</a:t>
            </a:r>
            <a:endParaRPr lang="en-US" sz="2800" dirty="0">
              <a:solidFill>
                <a:schemeClr val="accent1">
                  <a:lumMod val="75000"/>
                </a:schemeClr>
              </a:solidFill>
              <a:latin typeface="Inter Bold" charset="0"/>
              <a:ea typeface="Inter Bold" charset="0"/>
            </a:endParaRPr>
          </a:p>
        </p:txBody>
      </p:sp>
      <p:sp>
        <p:nvSpPr>
          <p:cNvPr id="67" name="TextBox 66"/>
          <p:cNvSpPr txBox="1"/>
          <p:nvPr/>
        </p:nvSpPr>
        <p:spPr>
          <a:xfrm>
            <a:off x="9448800" y="1104900"/>
            <a:ext cx="8153400" cy="3248325"/>
          </a:xfrm>
          <a:prstGeom prst="rect">
            <a:avLst/>
          </a:prstGeom>
          <a:noFill/>
        </p:spPr>
        <p:txBody>
          <a:bodyPr wrap="square" rtlCol="0">
            <a:spAutoFit/>
          </a:bodyPr>
          <a:lstStyle/>
          <a:p>
            <a:pPr>
              <a:lnSpc>
                <a:spcPct val="150000"/>
              </a:lnSpc>
            </a:pPr>
            <a:r>
              <a:rPr lang="en-US" sz="2800" dirty="0" smtClean="0">
                <a:latin typeface="Inter Light" charset="0"/>
                <a:ea typeface="Inter Light" charset="0"/>
              </a:rPr>
              <a:t>Deploy security incident management and tracking workflows. Implement incident severity classification, team assignments, and resolution tracking to reduce the mean time to resolution (MTTR) while maintaining detailed audit logs.</a:t>
            </a:r>
            <a:endParaRPr lang="en-US" sz="2800" dirty="0">
              <a:latin typeface="Inter Light" charset="0"/>
              <a:ea typeface="Inter Light" charset="0"/>
            </a:endParaRPr>
          </a:p>
        </p:txBody>
      </p:sp>
      <p:sp>
        <p:nvSpPr>
          <p:cNvPr id="68" name="TextBox 67"/>
          <p:cNvSpPr txBox="1"/>
          <p:nvPr/>
        </p:nvSpPr>
        <p:spPr>
          <a:xfrm>
            <a:off x="609600" y="5295900"/>
            <a:ext cx="7010400" cy="523220"/>
          </a:xfrm>
          <a:prstGeom prst="rect">
            <a:avLst/>
          </a:prstGeom>
          <a:noFill/>
        </p:spPr>
        <p:txBody>
          <a:bodyPr wrap="square" rtlCol="0">
            <a:spAutoFit/>
          </a:bodyPr>
          <a:lstStyle/>
          <a:p>
            <a:r>
              <a:rPr lang="en-US" sz="2800" dirty="0" smtClean="0">
                <a:solidFill>
                  <a:schemeClr val="accent1">
                    <a:lumMod val="75000"/>
                  </a:schemeClr>
                </a:solidFill>
                <a:latin typeface="Inter Bold" charset="0"/>
                <a:ea typeface="Inter Bold" charset="0"/>
              </a:rPr>
              <a:t>Milestone 3</a:t>
            </a:r>
          </a:p>
        </p:txBody>
      </p:sp>
      <p:sp>
        <p:nvSpPr>
          <p:cNvPr id="69" name="TextBox 68"/>
          <p:cNvSpPr txBox="1"/>
          <p:nvPr/>
        </p:nvSpPr>
        <p:spPr>
          <a:xfrm>
            <a:off x="609600" y="5981700"/>
            <a:ext cx="8153400" cy="3248325"/>
          </a:xfrm>
          <a:prstGeom prst="rect">
            <a:avLst/>
          </a:prstGeom>
          <a:noFill/>
        </p:spPr>
        <p:txBody>
          <a:bodyPr wrap="square" rtlCol="0">
            <a:spAutoFit/>
          </a:bodyPr>
          <a:lstStyle/>
          <a:p>
            <a:pPr>
              <a:lnSpc>
                <a:spcPct val="150000"/>
              </a:lnSpc>
            </a:pPr>
            <a:r>
              <a:rPr lang="en-US" sz="2800" dirty="0" smtClean="0">
                <a:latin typeface="Inter Light" charset="0"/>
                <a:ea typeface="Inter Light" charset="0"/>
              </a:rPr>
              <a:t>Build a vulnerability management and risk assessment system. Integrate scanning tools like </a:t>
            </a:r>
            <a:r>
              <a:rPr lang="en-US" sz="2800" dirty="0" err="1" smtClean="0">
                <a:latin typeface="Inter Light" charset="0"/>
                <a:ea typeface="Inter Light" charset="0"/>
              </a:rPr>
              <a:t>SonarQube</a:t>
            </a:r>
            <a:r>
              <a:rPr lang="en-US" sz="2800" dirty="0" smtClean="0">
                <a:latin typeface="Inter Light" charset="0"/>
                <a:ea typeface="Inter Light" charset="0"/>
              </a:rPr>
              <a:t> and </a:t>
            </a:r>
            <a:r>
              <a:rPr lang="en-US" sz="2800" dirty="0" err="1" smtClean="0">
                <a:latin typeface="Inter Light" charset="0"/>
                <a:ea typeface="Inter Light" charset="0"/>
              </a:rPr>
              <a:t>Trivy</a:t>
            </a:r>
            <a:r>
              <a:rPr lang="en-US" sz="2800" dirty="0" smtClean="0">
                <a:latin typeface="Inter Light" charset="0"/>
                <a:ea typeface="Inter Light" charset="0"/>
              </a:rPr>
              <a:t> to identify CVEs, track patch statuses across affected servers, and generate risk evaluation reports.</a:t>
            </a:r>
            <a:endParaRPr lang="en-US" sz="2800" dirty="0">
              <a:latin typeface="Inter Light" charset="0"/>
              <a:ea typeface="Inter Light" charset="0"/>
            </a:endParaRPr>
          </a:p>
        </p:txBody>
      </p:sp>
      <p:sp>
        <p:nvSpPr>
          <p:cNvPr id="70" name="TextBox 69"/>
          <p:cNvSpPr txBox="1"/>
          <p:nvPr/>
        </p:nvSpPr>
        <p:spPr>
          <a:xfrm>
            <a:off x="9448800" y="5295900"/>
            <a:ext cx="7010400" cy="523220"/>
          </a:xfrm>
          <a:prstGeom prst="rect">
            <a:avLst/>
          </a:prstGeom>
          <a:noFill/>
        </p:spPr>
        <p:txBody>
          <a:bodyPr wrap="square" rtlCol="0">
            <a:spAutoFit/>
          </a:bodyPr>
          <a:lstStyle/>
          <a:p>
            <a:r>
              <a:rPr lang="en-US" sz="2800" dirty="0" smtClean="0">
                <a:solidFill>
                  <a:schemeClr val="bg1">
                    <a:lumMod val="50000"/>
                  </a:schemeClr>
                </a:solidFill>
                <a:latin typeface="Inter Bold" charset="0"/>
                <a:ea typeface="Inter Bold" charset="0"/>
              </a:rPr>
              <a:t>Milestone 4</a:t>
            </a:r>
            <a:endParaRPr lang="en-US" sz="2800" dirty="0">
              <a:solidFill>
                <a:schemeClr val="bg1">
                  <a:lumMod val="50000"/>
                </a:schemeClr>
              </a:solidFill>
              <a:latin typeface="Inter Bold" charset="0"/>
              <a:ea typeface="Inter Bold" charset="0"/>
            </a:endParaRPr>
          </a:p>
        </p:txBody>
      </p:sp>
      <p:sp>
        <p:nvSpPr>
          <p:cNvPr id="71" name="TextBox 70"/>
          <p:cNvSpPr txBox="1"/>
          <p:nvPr/>
        </p:nvSpPr>
        <p:spPr>
          <a:xfrm>
            <a:off x="9448800" y="5981700"/>
            <a:ext cx="8153400" cy="3248325"/>
          </a:xfrm>
          <a:prstGeom prst="rect">
            <a:avLst/>
          </a:prstGeom>
          <a:noFill/>
        </p:spPr>
        <p:txBody>
          <a:bodyPr wrap="square" rtlCol="0">
            <a:spAutoFit/>
          </a:bodyPr>
          <a:lstStyle/>
          <a:p>
            <a:pPr>
              <a:lnSpc>
                <a:spcPct val="150000"/>
              </a:lnSpc>
            </a:pPr>
            <a:r>
              <a:rPr lang="en-US" sz="2800" dirty="0" smtClean="0">
                <a:latin typeface="Inter Light" charset="0"/>
                <a:ea typeface="Inter Light" charset="0"/>
              </a:rPr>
              <a:t>Implement audit logging and compliance reporting modules. Store immutable, encrypted audit logs and track user activity to generate security reviews and verify compliance with standards like PCI DSS, SOC 2, and ISO 27001.</a:t>
            </a:r>
            <a:endParaRPr lang="en-US" sz="2800" dirty="0">
              <a:latin typeface="Inter Light" charset="0"/>
              <a:ea typeface="Inter Light"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1000" y="355779"/>
            <a:ext cx="17554269" cy="9575441"/>
            <a:chOff x="0" y="0"/>
            <a:chExt cx="3271888" cy="2521927"/>
          </a:xfrm>
        </p:grpSpPr>
        <p:sp>
          <p:nvSpPr>
            <p:cNvPr id="3" name="Freeform 3"/>
            <p:cNvSpPr/>
            <p:nvPr/>
          </p:nvSpPr>
          <p:spPr>
            <a:xfrm>
              <a:off x="0" y="0"/>
              <a:ext cx="3271887" cy="2521927"/>
            </a:xfrm>
            <a:custGeom>
              <a:avLst/>
              <a:gdLst/>
              <a:ahLst/>
              <a:cxnLst/>
              <a:rect l="l" t="t" r="r" b="b"/>
              <a:pathLst>
                <a:path w="3271887" h="2521927">
                  <a:moveTo>
                    <a:pt x="43624" y="0"/>
                  </a:moveTo>
                  <a:lnTo>
                    <a:pt x="3228264" y="0"/>
                  </a:lnTo>
                  <a:cubicBezTo>
                    <a:pt x="3239834" y="0"/>
                    <a:pt x="3250929" y="4596"/>
                    <a:pt x="3259110" y="12777"/>
                  </a:cubicBezTo>
                  <a:cubicBezTo>
                    <a:pt x="3267291" y="20958"/>
                    <a:pt x="3271887" y="32054"/>
                    <a:pt x="3271887" y="43624"/>
                  </a:cubicBezTo>
                  <a:lnTo>
                    <a:pt x="3271887" y="2478303"/>
                  </a:lnTo>
                  <a:cubicBezTo>
                    <a:pt x="3271887" y="2489873"/>
                    <a:pt x="3267291" y="2500969"/>
                    <a:pt x="3259110" y="2509150"/>
                  </a:cubicBezTo>
                  <a:cubicBezTo>
                    <a:pt x="3250929" y="2517331"/>
                    <a:pt x="3239834" y="2521927"/>
                    <a:pt x="3228264" y="2521927"/>
                  </a:cubicBezTo>
                  <a:lnTo>
                    <a:pt x="43624" y="2521927"/>
                  </a:lnTo>
                  <a:cubicBezTo>
                    <a:pt x="32054" y="2521927"/>
                    <a:pt x="20958" y="2517331"/>
                    <a:pt x="12777" y="2509150"/>
                  </a:cubicBezTo>
                  <a:cubicBezTo>
                    <a:pt x="4596" y="2500969"/>
                    <a:pt x="0" y="2489873"/>
                    <a:pt x="0" y="2478303"/>
                  </a:cubicBezTo>
                  <a:lnTo>
                    <a:pt x="0" y="43624"/>
                  </a:lnTo>
                  <a:cubicBezTo>
                    <a:pt x="0" y="32054"/>
                    <a:pt x="4596" y="20958"/>
                    <a:pt x="12777" y="12777"/>
                  </a:cubicBezTo>
                  <a:cubicBezTo>
                    <a:pt x="20958" y="4596"/>
                    <a:pt x="32054" y="0"/>
                    <a:pt x="43624" y="0"/>
                  </a:cubicBezTo>
                  <a:close/>
                </a:path>
              </a:pathLst>
            </a:custGeom>
            <a:solidFill>
              <a:srgbClr val="EDEDED"/>
            </a:solidFill>
          </p:spPr>
        </p:sp>
        <p:sp>
          <p:nvSpPr>
            <p:cNvPr id="4" name="TextBox 4"/>
            <p:cNvSpPr txBox="1"/>
            <p:nvPr/>
          </p:nvSpPr>
          <p:spPr>
            <a:xfrm>
              <a:off x="0" y="-28575"/>
              <a:ext cx="3271888" cy="2550502"/>
            </a:xfrm>
            <a:prstGeom prst="rect">
              <a:avLst/>
            </a:prstGeom>
          </p:spPr>
          <p:txBody>
            <a:bodyPr lIns="50800" tIns="50800" rIns="50800" bIns="50800" rtlCol="0" anchor="ctr"/>
            <a:lstStyle/>
            <a:p>
              <a:pPr algn="ctr">
                <a:lnSpc>
                  <a:spcPts val="1960"/>
                </a:lnSpc>
              </a:pPr>
              <a:endParaRPr/>
            </a:p>
          </p:txBody>
        </p:sp>
      </p:grpSp>
      <p:sp>
        <p:nvSpPr>
          <p:cNvPr id="9" name="AutoShape 9"/>
          <p:cNvSpPr/>
          <p:nvPr/>
        </p:nvSpPr>
        <p:spPr>
          <a:xfrm>
            <a:off x="3429000" y="1790700"/>
            <a:ext cx="10820400" cy="0"/>
          </a:xfrm>
          <a:prstGeom prst="line">
            <a:avLst/>
          </a:prstGeom>
          <a:ln w="19050" cap="flat">
            <a:solidFill>
              <a:srgbClr val="000000"/>
            </a:solidFill>
            <a:prstDash val="solid"/>
            <a:headEnd type="none" w="sm" len="sm"/>
            <a:tailEnd type="none" w="sm" len="sm"/>
          </a:ln>
        </p:spPr>
      </p:sp>
      <p:sp>
        <p:nvSpPr>
          <p:cNvPr id="11" name="TextBox 11"/>
          <p:cNvSpPr txBox="1"/>
          <p:nvPr/>
        </p:nvSpPr>
        <p:spPr>
          <a:xfrm>
            <a:off x="381000" y="800100"/>
            <a:ext cx="17373600" cy="830997"/>
          </a:xfrm>
          <a:prstGeom prst="rect">
            <a:avLst/>
          </a:prstGeom>
        </p:spPr>
        <p:txBody>
          <a:bodyPr wrap="square" lIns="0" tIns="0" rIns="0" bIns="0" rtlCol="0" anchor="t">
            <a:spAutoFit/>
          </a:bodyPr>
          <a:lstStyle/>
          <a:p>
            <a:pPr lvl="0" algn="ctr"/>
            <a:r>
              <a:rPr lang="en-US" sz="5400" b="1" dirty="0" smtClean="0">
                <a:solidFill>
                  <a:srgbClr val="000000"/>
                </a:solidFill>
                <a:latin typeface="Inter Bold" charset="0"/>
                <a:ea typeface="Inter Bold" charset="0"/>
                <a:cs typeface="Inter Light"/>
                <a:sym typeface="Inter Light"/>
              </a:rPr>
              <a:t>Conclusion</a:t>
            </a:r>
            <a:endParaRPr lang="en-US" sz="5400" b="1" dirty="0">
              <a:solidFill>
                <a:srgbClr val="000000"/>
              </a:solidFill>
              <a:latin typeface="Inter Bold" charset="0"/>
              <a:ea typeface="Inter Bold" charset="0"/>
              <a:cs typeface="Inter Light"/>
              <a:sym typeface="Inter Light"/>
            </a:endParaRPr>
          </a:p>
        </p:txBody>
      </p:sp>
      <p:sp>
        <p:nvSpPr>
          <p:cNvPr id="12" name="TextBox 12"/>
          <p:cNvSpPr txBox="1"/>
          <p:nvPr/>
        </p:nvSpPr>
        <p:spPr>
          <a:xfrm>
            <a:off x="1447800" y="2095500"/>
            <a:ext cx="15316200" cy="6647974"/>
          </a:xfrm>
          <a:prstGeom prst="rect">
            <a:avLst/>
          </a:prstGeom>
        </p:spPr>
        <p:txBody>
          <a:bodyPr wrap="square" lIns="0" tIns="0" rIns="0" bIns="0" rtlCol="0" anchor="t">
            <a:spAutoFit/>
          </a:bodyPr>
          <a:lstStyle/>
          <a:p>
            <a:pPr algn="just">
              <a:lnSpc>
                <a:spcPct val="150000"/>
              </a:lnSpc>
            </a:pPr>
            <a:r>
              <a:rPr lang="en-US" sz="3200" dirty="0" smtClean="0">
                <a:latin typeface="Inter Light" charset="0"/>
                <a:ea typeface="Inter Light" charset="0"/>
              </a:rPr>
              <a:t>The Cloud Security Monitoring System with Incident Management Assistance is a full-stack security platform built using React and Java with Spring Boot to deliver centralized visibility across organizational infrastructure. By combining real-time telemetry monitoring, automated vulnerability tracking, SLA-driven incident workflows, and an integrated AI </a:t>
            </a:r>
            <a:r>
              <a:rPr lang="en-US" sz="3200" dirty="0" err="1" smtClean="0">
                <a:latin typeface="Inter Light" charset="0"/>
                <a:ea typeface="Inter Light" charset="0"/>
              </a:rPr>
              <a:t>ChatOps</a:t>
            </a:r>
            <a:r>
              <a:rPr lang="en-US" sz="3200" dirty="0" smtClean="0">
                <a:latin typeface="Inter Light" charset="0"/>
                <a:ea typeface="Inter Light" charset="0"/>
              </a:rPr>
              <a:t> assistant, the system equips security teams with the tools needed to rapidly triage and remediate security events. Enforced by custom JWT authentication, role-based access control, and comprehensive audit logging, the application provides a reliable, scalable foundation for enterprise security operations and infrastructure governance.</a:t>
            </a:r>
            <a:endParaRPr lang="en-US" sz="2800" dirty="0" smtClean="0">
              <a:latin typeface="Inter Light" charset="0"/>
              <a:ea typeface="Inter Light"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97469" y="358826"/>
            <a:ext cx="7537798" cy="9575441"/>
            <a:chOff x="0" y="0"/>
            <a:chExt cx="1985264" cy="2521927"/>
          </a:xfrm>
        </p:grpSpPr>
        <p:sp>
          <p:nvSpPr>
            <p:cNvPr id="3" name="Freeform 3"/>
            <p:cNvSpPr/>
            <p:nvPr/>
          </p:nvSpPr>
          <p:spPr>
            <a:xfrm>
              <a:off x="0" y="0"/>
              <a:ext cx="1985264" cy="2521927"/>
            </a:xfrm>
            <a:custGeom>
              <a:avLst/>
              <a:gdLst/>
              <a:ahLst/>
              <a:cxnLst/>
              <a:rect l="l" t="t" r="r" b="b"/>
              <a:pathLst>
                <a:path w="1985264" h="2521927">
                  <a:moveTo>
                    <a:pt x="71896" y="0"/>
                  </a:moveTo>
                  <a:lnTo>
                    <a:pt x="1913368" y="0"/>
                  </a:lnTo>
                  <a:cubicBezTo>
                    <a:pt x="1932436" y="0"/>
                    <a:pt x="1950723" y="7575"/>
                    <a:pt x="1964206" y="21058"/>
                  </a:cubicBezTo>
                  <a:cubicBezTo>
                    <a:pt x="1977689" y="34541"/>
                    <a:pt x="1985264" y="52828"/>
                    <a:pt x="1985264" y="71896"/>
                  </a:cubicBezTo>
                  <a:lnTo>
                    <a:pt x="1985264" y="2450031"/>
                  </a:lnTo>
                  <a:cubicBezTo>
                    <a:pt x="1985264" y="2489738"/>
                    <a:pt x="1953075" y="2521927"/>
                    <a:pt x="1913368" y="2521927"/>
                  </a:cubicBezTo>
                  <a:lnTo>
                    <a:pt x="71896" y="2521927"/>
                  </a:lnTo>
                  <a:cubicBezTo>
                    <a:pt x="32189" y="2521927"/>
                    <a:pt x="0" y="2489738"/>
                    <a:pt x="0" y="2450031"/>
                  </a:cubicBezTo>
                  <a:lnTo>
                    <a:pt x="0" y="71896"/>
                  </a:lnTo>
                  <a:cubicBezTo>
                    <a:pt x="0" y="32189"/>
                    <a:pt x="32189" y="0"/>
                    <a:pt x="71896" y="0"/>
                  </a:cubicBezTo>
                  <a:close/>
                </a:path>
              </a:pathLst>
            </a:custGeom>
            <a:gradFill rotWithShape="1">
              <a:gsLst>
                <a:gs pos="0">
                  <a:srgbClr val="FE7AFE">
                    <a:alpha val="100000"/>
                  </a:srgbClr>
                </a:gs>
                <a:gs pos="50000">
                  <a:srgbClr val="D133D1">
                    <a:alpha val="100000"/>
                  </a:srgbClr>
                </a:gs>
                <a:gs pos="100000">
                  <a:srgbClr val="9552FF">
                    <a:alpha val="100000"/>
                  </a:srgbClr>
                </a:gs>
              </a:gsLst>
              <a:path path="circle">
                <a:fillToRect r="100000" b="100000"/>
              </a:path>
              <a:tileRect l="-100000" t="-100000"/>
            </a:gradFill>
          </p:spPr>
        </p:sp>
        <p:sp>
          <p:nvSpPr>
            <p:cNvPr id="4" name="TextBox 4"/>
            <p:cNvSpPr txBox="1"/>
            <p:nvPr/>
          </p:nvSpPr>
          <p:spPr>
            <a:xfrm>
              <a:off x="0" y="-28575"/>
              <a:ext cx="1985264" cy="2550502"/>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375503" y="358826"/>
            <a:ext cx="9653209" cy="9575441"/>
            <a:chOff x="0" y="0"/>
            <a:chExt cx="3958339" cy="3926450"/>
          </a:xfrm>
        </p:grpSpPr>
        <p:sp>
          <p:nvSpPr>
            <p:cNvPr id="6" name="Freeform 6"/>
            <p:cNvSpPr/>
            <p:nvPr/>
          </p:nvSpPr>
          <p:spPr>
            <a:xfrm>
              <a:off x="0" y="0"/>
              <a:ext cx="3958339" cy="3926450"/>
            </a:xfrm>
            <a:custGeom>
              <a:avLst/>
              <a:gdLst/>
              <a:ahLst/>
              <a:cxnLst/>
              <a:rect l="l" t="t" r="r" b="b"/>
              <a:pathLst>
                <a:path w="3958339" h="3926450">
                  <a:moveTo>
                    <a:pt x="56140" y="0"/>
                  </a:moveTo>
                  <a:lnTo>
                    <a:pt x="3902199" y="0"/>
                  </a:lnTo>
                  <a:cubicBezTo>
                    <a:pt x="3917088" y="0"/>
                    <a:pt x="3931367" y="5915"/>
                    <a:pt x="3941896" y="16443"/>
                  </a:cubicBezTo>
                  <a:cubicBezTo>
                    <a:pt x="3952424" y="26971"/>
                    <a:pt x="3958339" y="41251"/>
                    <a:pt x="3958339" y="56140"/>
                  </a:cubicBezTo>
                  <a:lnTo>
                    <a:pt x="3958339" y="3870310"/>
                  </a:lnTo>
                  <a:cubicBezTo>
                    <a:pt x="3958339" y="3885199"/>
                    <a:pt x="3952424" y="3899479"/>
                    <a:pt x="3941896" y="3910007"/>
                  </a:cubicBezTo>
                  <a:cubicBezTo>
                    <a:pt x="3931367" y="3920536"/>
                    <a:pt x="3917088" y="3926450"/>
                    <a:pt x="3902199" y="3926450"/>
                  </a:cubicBezTo>
                  <a:lnTo>
                    <a:pt x="56140" y="3926450"/>
                  </a:lnTo>
                  <a:cubicBezTo>
                    <a:pt x="41251" y="3926450"/>
                    <a:pt x="26971" y="3920536"/>
                    <a:pt x="16443" y="3910007"/>
                  </a:cubicBezTo>
                  <a:cubicBezTo>
                    <a:pt x="5915" y="3899479"/>
                    <a:pt x="0" y="3885199"/>
                    <a:pt x="0" y="3870310"/>
                  </a:cubicBezTo>
                  <a:lnTo>
                    <a:pt x="0" y="56140"/>
                  </a:lnTo>
                  <a:cubicBezTo>
                    <a:pt x="0" y="41251"/>
                    <a:pt x="5915" y="26971"/>
                    <a:pt x="16443" y="16443"/>
                  </a:cubicBezTo>
                  <a:cubicBezTo>
                    <a:pt x="26971" y="5915"/>
                    <a:pt x="41251" y="0"/>
                    <a:pt x="56140" y="0"/>
                  </a:cubicBezTo>
                  <a:close/>
                </a:path>
              </a:pathLst>
            </a:custGeom>
            <a:solidFill>
              <a:srgbClr val="EDEDED"/>
            </a:solidFill>
            <a:ln cap="rnd">
              <a:noFill/>
              <a:prstDash val="solid"/>
              <a:round/>
            </a:ln>
          </p:spPr>
        </p:sp>
        <p:sp>
          <p:nvSpPr>
            <p:cNvPr id="7" name="TextBox 7"/>
            <p:cNvSpPr txBox="1"/>
            <p:nvPr/>
          </p:nvSpPr>
          <p:spPr>
            <a:xfrm>
              <a:off x="0" y="-57150"/>
              <a:ext cx="3958339" cy="3983600"/>
            </a:xfrm>
            <a:prstGeom prst="rect">
              <a:avLst/>
            </a:prstGeom>
          </p:spPr>
          <p:txBody>
            <a:bodyPr lIns="50800" tIns="50800" rIns="50800" bIns="50800" rtlCol="0" anchor="ctr"/>
            <a:lstStyle/>
            <a:p>
              <a:pPr algn="ctr">
                <a:lnSpc>
                  <a:spcPts val="3150"/>
                </a:lnSpc>
              </a:pPr>
              <a:endParaRPr/>
            </a:p>
          </p:txBody>
        </p:sp>
      </p:grpSp>
      <p:sp>
        <p:nvSpPr>
          <p:cNvPr id="8" name="Freeform 8"/>
          <p:cNvSpPr/>
          <p:nvPr/>
        </p:nvSpPr>
        <p:spPr>
          <a:xfrm>
            <a:off x="9296400" y="1028700"/>
            <a:ext cx="8991600" cy="7696200"/>
          </a:xfrm>
          <a:custGeom>
            <a:avLst/>
            <a:gdLst/>
            <a:ahLst/>
            <a:cxnLst/>
            <a:rect l="l" t="t" r="r" b="b"/>
            <a:pathLst>
              <a:path w="9549114" h="8229600">
                <a:moveTo>
                  <a:pt x="0" y="0"/>
                </a:moveTo>
                <a:lnTo>
                  <a:pt x="9549114" y="0"/>
                </a:lnTo>
                <a:lnTo>
                  <a:pt x="9549114" y="8229600"/>
                </a:lnTo>
                <a:lnTo>
                  <a:pt x="0" y="8229600"/>
                </a:lnTo>
                <a:lnTo>
                  <a:pt x="0" y="0"/>
                </a:lnTo>
                <a:close/>
              </a:path>
            </a:pathLst>
          </a:custGeom>
          <a:blipFill>
            <a:blip r:embed="rId2" cstate="print"/>
            <a:stretch>
              <a:fillRect/>
            </a:stretch>
          </a:blipFill>
        </p:spPr>
      </p:sp>
      <p:sp>
        <p:nvSpPr>
          <p:cNvPr id="9" name="TextBox 9"/>
          <p:cNvSpPr txBox="1"/>
          <p:nvPr/>
        </p:nvSpPr>
        <p:spPr>
          <a:xfrm>
            <a:off x="1028700" y="1219200"/>
            <a:ext cx="8191500" cy="1245662"/>
          </a:xfrm>
          <a:prstGeom prst="rect">
            <a:avLst/>
          </a:prstGeom>
        </p:spPr>
        <p:txBody>
          <a:bodyPr wrap="square" lIns="0" tIns="0" rIns="0" bIns="0" rtlCol="0" anchor="t">
            <a:spAutoFit/>
          </a:bodyPr>
          <a:lstStyle/>
          <a:p>
            <a:pPr marL="0" lvl="0" indent="0" algn="l">
              <a:lnSpc>
                <a:spcPts val="10400"/>
              </a:lnSpc>
              <a:spcBef>
                <a:spcPct val="0"/>
              </a:spcBef>
            </a:pPr>
            <a:r>
              <a:rPr lang="en-US" sz="8000" u="none" strike="noStrike" dirty="0" smtClean="0">
                <a:solidFill>
                  <a:srgbClr val="000000"/>
                </a:solidFill>
                <a:latin typeface="Inter Bold" charset="0"/>
                <a:ea typeface="Inter Bold" charset="0"/>
                <a:cs typeface="Inter Light"/>
                <a:sym typeface="Inter Light"/>
              </a:rPr>
              <a:t>Team Members</a:t>
            </a:r>
            <a:endParaRPr lang="en-US" sz="8000" u="none" strike="noStrike" dirty="0">
              <a:solidFill>
                <a:srgbClr val="000000"/>
              </a:solidFill>
              <a:latin typeface="Inter Bold" charset="0"/>
              <a:ea typeface="Inter Bold" charset="0"/>
              <a:cs typeface="Inter Light"/>
              <a:sym typeface="Inter Light"/>
            </a:endParaRPr>
          </a:p>
        </p:txBody>
      </p:sp>
      <p:sp>
        <p:nvSpPr>
          <p:cNvPr id="19" name="TextBox 18"/>
          <p:cNvSpPr txBox="1"/>
          <p:nvPr/>
        </p:nvSpPr>
        <p:spPr>
          <a:xfrm>
            <a:off x="990600" y="2628900"/>
            <a:ext cx="7467600" cy="6863417"/>
          </a:xfrm>
          <a:prstGeom prst="rect">
            <a:avLst/>
          </a:prstGeom>
          <a:noFill/>
        </p:spPr>
        <p:txBody>
          <a:bodyPr wrap="square" rtlCol="0">
            <a:spAutoFit/>
          </a:bodyPr>
          <a:lstStyle/>
          <a:p>
            <a:pPr>
              <a:lnSpc>
                <a:spcPct val="200000"/>
              </a:lnSpc>
              <a:buFont typeface="Arial" pitchFamily="34" charset="0"/>
              <a:buChar char="•"/>
            </a:pPr>
            <a:r>
              <a:rPr lang="en-US" sz="4400" dirty="0" smtClean="0">
                <a:latin typeface="Inter Light" charset="0"/>
                <a:ea typeface="Inter Light" charset="0"/>
              </a:rPr>
              <a:t> </a:t>
            </a:r>
            <a:r>
              <a:rPr lang="en-US" sz="4400" dirty="0" err="1" smtClean="0">
                <a:latin typeface="Inter Light" charset="0"/>
                <a:ea typeface="Inter Light" charset="0"/>
              </a:rPr>
              <a:t>Tarak</a:t>
            </a:r>
            <a:r>
              <a:rPr lang="en-US" sz="4400" dirty="0" smtClean="0">
                <a:latin typeface="Inter Light" charset="0"/>
                <a:ea typeface="Inter Light" charset="0"/>
              </a:rPr>
              <a:t> </a:t>
            </a:r>
            <a:r>
              <a:rPr lang="en-US" sz="4400" dirty="0" smtClean="0">
                <a:latin typeface="Inter Light" charset="0"/>
                <a:ea typeface="Inter Light" charset="0"/>
              </a:rPr>
              <a:t>Ram </a:t>
            </a:r>
            <a:r>
              <a:rPr lang="en-US" sz="4400" dirty="0" err="1" smtClean="0">
                <a:latin typeface="Inter Light" charset="0"/>
                <a:ea typeface="Inter Light" charset="0"/>
              </a:rPr>
              <a:t>Jonnadula</a:t>
            </a:r>
            <a:endParaRPr lang="en-US" sz="4400" dirty="0" smtClean="0">
              <a:latin typeface="Inter Light" charset="0"/>
              <a:ea typeface="Inter Light" charset="0"/>
            </a:endParaRPr>
          </a:p>
          <a:p>
            <a:pPr>
              <a:lnSpc>
                <a:spcPct val="200000"/>
              </a:lnSpc>
              <a:buFont typeface="Arial" pitchFamily="34" charset="0"/>
              <a:buChar char="•"/>
            </a:pPr>
            <a:r>
              <a:rPr lang="en-US" sz="4400" dirty="0" smtClean="0">
                <a:latin typeface="Inter Light" charset="0"/>
                <a:ea typeface="Inter Light" charset="0"/>
              </a:rPr>
              <a:t> </a:t>
            </a:r>
            <a:r>
              <a:rPr lang="en-US" sz="4400" dirty="0" err="1" smtClean="0">
                <a:latin typeface="Inter Light" charset="0"/>
                <a:ea typeface="Inter Light" charset="0"/>
              </a:rPr>
              <a:t>Bhanu</a:t>
            </a:r>
            <a:r>
              <a:rPr lang="en-US" sz="4400" dirty="0" smtClean="0">
                <a:latin typeface="Inter Light" charset="0"/>
                <a:ea typeface="Inter Light" charset="0"/>
              </a:rPr>
              <a:t> </a:t>
            </a:r>
            <a:r>
              <a:rPr lang="en-US" sz="4400" dirty="0" smtClean="0">
                <a:latin typeface="Inter Light" charset="0"/>
                <a:ea typeface="Inter Light" charset="0"/>
              </a:rPr>
              <a:t>Prasad </a:t>
            </a:r>
            <a:r>
              <a:rPr lang="en-US" sz="4400" dirty="0" err="1" smtClean="0">
                <a:latin typeface="Inter Light" charset="0"/>
                <a:ea typeface="Inter Light" charset="0"/>
              </a:rPr>
              <a:t>Burri</a:t>
            </a:r>
            <a:endParaRPr lang="en-US" sz="4400" dirty="0" smtClean="0">
              <a:latin typeface="Inter Light" charset="0"/>
              <a:ea typeface="Inter Light" charset="0"/>
            </a:endParaRPr>
          </a:p>
          <a:p>
            <a:pPr>
              <a:lnSpc>
                <a:spcPct val="200000"/>
              </a:lnSpc>
              <a:buFont typeface="Arial" pitchFamily="34" charset="0"/>
              <a:buChar char="•"/>
            </a:pPr>
            <a:r>
              <a:rPr lang="en-US" sz="4400" dirty="0" smtClean="0">
                <a:latin typeface="Inter Light" charset="0"/>
                <a:ea typeface="Inter Light" charset="0"/>
              </a:rPr>
              <a:t> </a:t>
            </a:r>
            <a:r>
              <a:rPr lang="en-US" sz="4400" dirty="0" err="1" smtClean="0">
                <a:latin typeface="Inter Light" charset="0"/>
                <a:ea typeface="Inter Light" charset="0"/>
              </a:rPr>
              <a:t>Tanisha</a:t>
            </a:r>
            <a:r>
              <a:rPr lang="en-US" sz="4400" dirty="0" smtClean="0">
                <a:latin typeface="Inter Light" charset="0"/>
                <a:ea typeface="Inter Light" charset="0"/>
              </a:rPr>
              <a:t> </a:t>
            </a:r>
            <a:r>
              <a:rPr lang="en-US" sz="4400" dirty="0" err="1" smtClean="0">
                <a:latin typeface="Inter Light" charset="0"/>
                <a:ea typeface="Inter Light" charset="0"/>
              </a:rPr>
              <a:t>Lokhande</a:t>
            </a:r>
            <a:endParaRPr lang="en-US" sz="4400" dirty="0" smtClean="0">
              <a:latin typeface="Inter Light" charset="0"/>
              <a:ea typeface="Inter Light" charset="0"/>
            </a:endParaRPr>
          </a:p>
          <a:p>
            <a:pPr>
              <a:lnSpc>
                <a:spcPct val="200000"/>
              </a:lnSpc>
              <a:buFont typeface="Arial" pitchFamily="34" charset="0"/>
              <a:buChar char="•"/>
            </a:pPr>
            <a:r>
              <a:rPr lang="en-US" sz="4400" dirty="0" smtClean="0">
                <a:latin typeface="Inter Light" charset="0"/>
                <a:ea typeface="Inter Light" charset="0"/>
              </a:rPr>
              <a:t> </a:t>
            </a:r>
            <a:r>
              <a:rPr lang="en-US" sz="4400" dirty="0" err="1" smtClean="0">
                <a:latin typeface="Inter Light" charset="0"/>
                <a:ea typeface="Inter Light" charset="0"/>
              </a:rPr>
              <a:t>Badinehal</a:t>
            </a:r>
            <a:r>
              <a:rPr lang="en-US" sz="4400" dirty="0" smtClean="0">
                <a:latin typeface="Inter Light" charset="0"/>
                <a:ea typeface="Inter Light" charset="0"/>
              </a:rPr>
              <a:t> </a:t>
            </a:r>
            <a:r>
              <a:rPr lang="en-US" sz="4400" dirty="0" err="1" smtClean="0">
                <a:latin typeface="Inter Light" charset="0"/>
                <a:ea typeface="Inter Light" charset="0"/>
              </a:rPr>
              <a:t>Sundi</a:t>
            </a:r>
            <a:r>
              <a:rPr lang="en-US" sz="4400" dirty="0" smtClean="0">
                <a:latin typeface="Inter Light" charset="0"/>
                <a:ea typeface="Inter Light" charset="0"/>
              </a:rPr>
              <a:t> </a:t>
            </a:r>
            <a:r>
              <a:rPr lang="en-US" sz="4400" dirty="0" err="1" smtClean="0">
                <a:latin typeface="Inter Light" charset="0"/>
                <a:ea typeface="Inter Light" charset="0"/>
              </a:rPr>
              <a:t>Tejaswini</a:t>
            </a:r>
            <a:endParaRPr lang="en-US" sz="4400" dirty="0" smtClean="0">
              <a:latin typeface="Inter Light" charset="0"/>
              <a:ea typeface="Inter Light" charset="0"/>
            </a:endParaRPr>
          </a:p>
          <a:p>
            <a:pPr>
              <a:lnSpc>
                <a:spcPct val="200000"/>
              </a:lnSpc>
              <a:buFont typeface="Arial" pitchFamily="34" charset="0"/>
              <a:buChar char="•"/>
            </a:pPr>
            <a:r>
              <a:rPr lang="en-US" sz="4400" dirty="0" smtClean="0">
                <a:latin typeface="Inter Light" charset="0"/>
                <a:ea typeface="Inter Light" charset="0"/>
              </a:rPr>
              <a:t> </a:t>
            </a:r>
            <a:r>
              <a:rPr lang="en-US" sz="4400" dirty="0" err="1" smtClean="0">
                <a:latin typeface="Inter Light" charset="0"/>
                <a:ea typeface="Inter Light" charset="0"/>
              </a:rPr>
              <a:t>Dharanika</a:t>
            </a:r>
            <a:r>
              <a:rPr lang="en-US" sz="4400" dirty="0" smtClean="0">
                <a:latin typeface="Inter Light" charset="0"/>
                <a:ea typeface="Inter Light" charset="0"/>
              </a:rPr>
              <a:t> </a:t>
            </a:r>
            <a:r>
              <a:rPr lang="en-US" sz="4400" dirty="0" smtClean="0">
                <a:latin typeface="Inter Light" charset="0"/>
                <a:ea typeface="Inter Light" charset="0"/>
              </a:rPr>
              <a:t>K</a:t>
            </a:r>
            <a:endParaRPr lang="en-US" sz="4400" dirty="0">
              <a:latin typeface="Inter Light" charset="0"/>
              <a:ea typeface="Inter Light"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172200" y="342901"/>
            <a:ext cx="11780127" cy="9525000"/>
            <a:chOff x="0" y="0"/>
            <a:chExt cx="3102585" cy="2521927"/>
          </a:xfrm>
        </p:grpSpPr>
        <p:sp>
          <p:nvSpPr>
            <p:cNvPr id="3" name="Freeform 3"/>
            <p:cNvSpPr/>
            <p:nvPr/>
          </p:nvSpPr>
          <p:spPr>
            <a:xfrm>
              <a:off x="0" y="0"/>
              <a:ext cx="3102585" cy="2521927"/>
            </a:xfrm>
            <a:custGeom>
              <a:avLst/>
              <a:gdLst/>
              <a:ahLst/>
              <a:cxnLst/>
              <a:rect l="l" t="t" r="r" b="b"/>
              <a:pathLst>
                <a:path w="3102585" h="2521927">
                  <a:moveTo>
                    <a:pt x="46004" y="0"/>
                  </a:moveTo>
                  <a:lnTo>
                    <a:pt x="3056581" y="0"/>
                  </a:lnTo>
                  <a:cubicBezTo>
                    <a:pt x="3068782" y="0"/>
                    <a:pt x="3080483" y="4847"/>
                    <a:pt x="3089111" y="13474"/>
                  </a:cubicBezTo>
                  <a:cubicBezTo>
                    <a:pt x="3097738" y="22102"/>
                    <a:pt x="3102585" y="33803"/>
                    <a:pt x="3102585" y="46004"/>
                  </a:cubicBezTo>
                  <a:lnTo>
                    <a:pt x="3102585" y="2475923"/>
                  </a:lnTo>
                  <a:cubicBezTo>
                    <a:pt x="3102585" y="2488124"/>
                    <a:pt x="3097738" y="2499825"/>
                    <a:pt x="3089111" y="2508453"/>
                  </a:cubicBezTo>
                  <a:cubicBezTo>
                    <a:pt x="3080483" y="2517080"/>
                    <a:pt x="3068782" y="2521927"/>
                    <a:pt x="3056581" y="2521927"/>
                  </a:cubicBezTo>
                  <a:lnTo>
                    <a:pt x="46004" y="2521927"/>
                  </a:lnTo>
                  <a:cubicBezTo>
                    <a:pt x="33803" y="2521927"/>
                    <a:pt x="22102" y="2517080"/>
                    <a:pt x="13474" y="2508453"/>
                  </a:cubicBezTo>
                  <a:cubicBezTo>
                    <a:pt x="4847" y="2499825"/>
                    <a:pt x="0" y="2488124"/>
                    <a:pt x="0" y="2475923"/>
                  </a:cubicBezTo>
                  <a:lnTo>
                    <a:pt x="0" y="46004"/>
                  </a:lnTo>
                  <a:cubicBezTo>
                    <a:pt x="0" y="33803"/>
                    <a:pt x="4847" y="22102"/>
                    <a:pt x="13474" y="13474"/>
                  </a:cubicBezTo>
                  <a:cubicBezTo>
                    <a:pt x="22102" y="4847"/>
                    <a:pt x="33803" y="0"/>
                    <a:pt x="46004" y="0"/>
                  </a:cubicBezTo>
                  <a:close/>
                </a:path>
              </a:pathLst>
            </a:custGeom>
            <a:solidFill>
              <a:srgbClr val="FFFFFF"/>
            </a:solidFill>
            <a:ln w="19050" cap="rnd">
              <a:solidFill>
                <a:srgbClr val="000000"/>
              </a:solidFill>
              <a:prstDash val="solid"/>
              <a:round/>
            </a:ln>
          </p:spPr>
        </p:sp>
        <p:sp>
          <p:nvSpPr>
            <p:cNvPr id="4" name="TextBox 4"/>
            <p:cNvSpPr txBox="1"/>
            <p:nvPr/>
          </p:nvSpPr>
          <p:spPr>
            <a:xfrm>
              <a:off x="0" y="-57150"/>
              <a:ext cx="3102585" cy="2579077"/>
            </a:xfrm>
            <a:prstGeom prst="rect">
              <a:avLst/>
            </a:prstGeom>
          </p:spPr>
          <p:txBody>
            <a:bodyPr lIns="50800" tIns="50800" rIns="50800" bIns="50800" rtlCol="0" anchor="ctr"/>
            <a:lstStyle/>
            <a:p>
              <a:pPr algn="ctr">
                <a:lnSpc>
                  <a:spcPts val="3150"/>
                </a:lnSpc>
              </a:pPr>
              <a:endParaRPr u="sng"/>
            </a:p>
          </p:txBody>
        </p:sp>
      </p:grpSp>
      <p:grpSp>
        <p:nvGrpSpPr>
          <p:cNvPr id="5" name="Group 5"/>
          <p:cNvGrpSpPr/>
          <p:nvPr/>
        </p:nvGrpSpPr>
        <p:grpSpPr>
          <a:xfrm>
            <a:off x="-304800" y="342900"/>
            <a:ext cx="8789368" cy="9575441"/>
            <a:chOff x="0" y="0"/>
            <a:chExt cx="2314895" cy="2521927"/>
          </a:xfrm>
        </p:grpSpPr>
        <p:sp>
          <p:nvSpPr>
            <p:cNvPr id="6" name="Freeform 6"/>
            <p:cNvSpPr/>
            <p:nvPr/>
          </p:nvSpPr>
          <p:spPr>
            <a:xfrm>
              <a:off x="0" y="0"/>
              <a:ext cx="2314895" cy="2521927"/>
            </a:xfrm>
            <a:custGeom>
              <a:avLst/>
              <a:gdLst/>
              <a:ahLst/>
              <a:cxnLst/>
              <a:rect l="l" t="t" r="r" b="b"/>
              <a:pathLst>
                <a:path w="2314895" h="2521927">
                  <a:moveTo>
                    <a:pt x="61658" y="0"/>
                  </a:moveTo>
                  <a:lnTo>
                    <a:pt x="2253237" y="0"/>
                  </a:lnTo>
                  <a:cubicBezTo>
                    <a:pt x="2287290" y="0"/>
                    <a:pt x="2314895" y="27605"/>
                    <a:pt x="2314895" y="61658"/>
                  </a:cubicBezTo>
                  <a:lnTo>
                    <a:pt x="2314895" y="2460269"/>
                  </a:lnTo>
                  <a:cubicBezTo>
                    <a:pt x="2314895" y="2476622"/>
                    <a:pt x="2308399" y="2492305"/>
                    <a:pt x="2296836" y="2503868"/>
                  </a:cubicBezTo>
                  <a:cubicBezTo>
                    <a:pt x="2285273" y="2515431"/>
                    <a:pt x="2269590" y="2521927"/>
                    <a:pt x="2253237" y="2521927"/>
                  </a:cubicBezTo>
                  <a:lnTo>
                    <a:pt x="61658" y="2521927"/>
                  </a:lnTo>
                  <a:cubicBezTo>
                    <a:pt x="27605" y="2521927"/>
                    <a:pt x="0" y="2494322"/>
                    <a:pt x="0" y="2460269"/>
                  </a:cubicBezTo>
                  <a:lnTo>
                    <a:pt x="0" y="61658"/>
                  </a:lnTo>
                  <a:cubicBezTo>
                    <a:pt x="0" y="27605"/>
                    <a:pt x="27605" y="0"/>
                    <a:pt x="61658" y="0"/>
                  </a:cubicBezTo>
                  <a:close/>
                </a:path>
              </a:pathLst>
            </a:custGeom>
            <a:gradFill rotWithShape="1">
              <a:gsLst>
                <a:gs pos="0">
                  <a:srgbClr val="FF84FF">
                    <a:alpha val="100000"/>
                  </a:srgbClr>
                </a:gs>
                <a:gs pos="100000">
                  <a:srgbClr val="ED7943">
                    <a:alpha val="100000"/>
                  </a:srgbClr>
                </a:gs>
              </a:gsLst>
              <a:path path="circle">
                <a:fillToRect r="100000" b="100000"/>
              </a:path>
              <a:tileRect l="-100000" t="-100000"/>
            </a:gradFill>
            <a:ln cap="rnd">
              <a:noFill/>
              <a:prstDash val="solid"/>
              <a:round/>
            </a:ln>
          </p:spPr>
        </p:sp>
        <p:sp>
          <p:nvSpPr>
            <p:cNvPr id="7" name="TextBox 7"/>
            <p:cNvSpPr txBox="1"/>
            <p:nvPr/>
          </p:nvSpPr>
          <p:spPr>
            <a:xfrm>
              <a:off x="0" y="-57150"/>
              <a:ext cx="2314895" cy="2579077"/>
            </a:xfrm>
            <a:prstGeom prst="rect">
              <a:avLst/>
            </a:prstGeom>
          </p:spPr>
          <p:txBody>
            <a:bodyPr lIns="50800" tIns="50800" rIns="50800" bIns="50800" rtlCol="0" anchor="ctr"/>
            <a:lstStyle/>
            <a:p>
              <a:pPr algn="ctr">
                <a:lnSpc>
                  <a:spcPts val="3150"/>
                </a:lnSpc>
              </a:pPr>
              <a:endParaRPr u="sng"/>
            </a:p>
          </p:txBody>
        </p:sp>
      </p:grpSp>
      <p:sp>
        <p:nvSpPr>
          <p:cNvPr id="9" name="TextBox 9"/>
          <p:cNvSpPr txBox="1"/>
          <p:nvPr/>
        </p:nvSpPr>
        <p:spPr>
          <a:xfrm>
            <a:off x="9982200" y="3695700"/>
            <a:ext cx="6965950" cy="1388111"/>
          </a:xfrm>
          <a:prstGeom prst="rect">
            <a:avLst/>
          </a:prstGeom>
        </p:spPr>
        <p:txBody>
          <a:bodyPr lIns="0" tIns="0" rIns="0" bIns="0" rtlCol="0" anchor="t">
            <a:spAutoFit/>
          </a:bodyPr>
          <a:lstStyle/>
          <a:p>
            <a:pPr marL="0" lvl="0" indent="0" algn="l">
              <a:lnSpc>
                <a:spcPts val="10400"/>
              </a:lnSpc>
              <a:spcBef>
                <a:spcPct val="0"/>
              </a:spcBef>
            </a:pPr>
            <a:r>
              <a:rPr lang="en-US" sz="10400" u="none" strike="noStrike" dirty="0">
                <a:solidFill>
                  <a:srgbClr val="000000"/>
                </a:solidFill>
                <a:latin typeface="Inter Light"/>
                <a:ea typeface="Inter Light"/>
                <a:cs typeface="Inter Light"/>
                <a:sym typeface="Inter Light"/>
              </a:rPr>
              <a:t>Thank you!</a:t>
            </a:r>
          </a:p>
        </p:txBody>
      </p:sp>
      <p:sp>
        <p:nvSpPr>
          <p:cNvPr id="12" name="Freeform 32"/>
          <p:cNvSpPr/>
          <p:nvPr/>
        </p:nvSpPr>
        <p:spPr>
          <a:xfrm rot="6918162">
            <a:off x="14718088" y="7214015"/>
            <a:ext cx="5400405" cy="4575616"/>
          </a:xfrm>
          <a:custGeom>
            <a:avLst/>
            <a:gdLst/>
            <a:ahLst/>
            <a:cxnLst/>
            <a:rect l="l" t="t" r="r" b="b"/>
            <a:pathLst>
              <a:path w="5400405" h="4575616">
                <a:moveTo>
                  <a:pt x="0" y="0"/>
                </a:moveTo>
                <a:lnTo>
                  <a:pt x="5400404" y="0"/>
                </a:lnTo>
                <a:lnTo>
                  <a:pt x="5400404" y="4575615"/>
                </a:lnTo>
                <a:lnTo>
                  <a:pt x="0" y="4575615"/>
                </a:lnTo>
                <a:lnTo>
                  <a:pt x="0" y="0"/>
                </a:lnTo>
                <a:close/>
              </a:path>
            </a:pathLst>
          </a:custGeom>
          <a:blipFill>
            <a:blip r:embed="rId2" cstate="print"/>
            <a:stretch>
              <a:fillRect/>
            </a:stretch>
          </a:blipFill>
        </p:spPr>
      </p:sp>
      <p:sp>
        <p:nvSpPr>
          <p:cNvPr id="11" name="Freeform 33"/>
          <p:cNvSpPr/>
          <p:nvPr/>
        </p:nvSpPr>
        <p:spPr>
          <a:xfrm rot="11260776">
            <a:off x="-1543250" y="-1061568"/>
            <a:ext cx="4376372" cy="4567371"/>
          </a:xfrm>
          <a:custGeom>
            <a:avLst/>
            <a:gdLst/>
            <a:ahLst/>
            <a:cxnLst/>
            <a:rect l="l" t="t" r="r" b="b"/>
            <a:pathLst>
              <a:path w="4376372" h="4567371">
                <a:moveTo>
                  <a:pt x="0" y="0"/>
                </a:moveTo>
                <a:lnTo>
                  <a:pt x="4376372" y="0"/>
                </a:lnTo>
                <a:lnTo>
                  <a:pt x="4376372" y="4567371"/>
                </a:lnTo>
                <a:lnTo>
                  <a:pt x="0" y="4567371"/>
                </a:lnTo>
                <a:lnTo>
                  <a:pt x="0" y="0"/>
                </a:lnTo>
                <a:close/>
              </a:path>
            </a:pathLst>
          </a:custGeom>
          <a:blipFill>
            <a:blip r:embed="rId3" cstate="print"/>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825</TotalTime>
  <Words>887</Words>
  <Application>Microsoft Office PowerPoint</Application>
  <PresentationFormat>Custom</PresentationFormat>
  <Paragraphs>95</Paragraphs>
  <Slides>23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Inter Bold</vt:lpstr>
      <vt:lpstr>Inter</vt:lpstr>
      <vt:lpstr>Inter Light</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Sales Kickoff Slides</dc:title>
  <dc:creator>LENOVO</dc:creator>
  <cp:lastModifiedBy>LENOVO</cp:lastModifiedBy>
  <cp:revision>45</cp:revision>
  <dcterms:created xsi:type="dcterms:W3CDTF">2006-08-16T00:00:00Z</dcterms:created>
  <dcterms:modified xsi:type="dcterms:W3CDTF">2026-08-23T06:20:14Z</dcterms:modified>
  <dc:identifier>DAHS5KA0Lko</dc:identifier>
</cp:coreProperties>
</file>